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Montserrat SemiBold"/>
      <p:regular r:id="rId19"/>
      <p:bold r:id="rId20"/>
      <p:italic r:id="rId21"/>
      <p:boldItalic r:id="rId22"/>
    </p:embeddedFont>
    <p:embeddedFont>
      <p:font typeface="Montserrat"/>
      <p:regular r:id="rId23"/>
      <p:bold r:id="rId24"/>
      <p:italic r:id="rId25"/>
      <p:boldItalic r:id="rId26"/>
    </p:embeddedFont>
    <p:embeddedFont>
      <p:font typeface="Inter"/>
      <p:regular r:id="rId27"/>
      <p:bold r:id="rId28"/>
      <p:italic r:id="rId29"/>
      <p:boldItalic r:id="rId30"/>
    </p:embeddedFont>
    <p:embeddedFont>
      <p:font typeface="Fira Sans Extra Condensed Medium"/>
      <p:regular r:id="rId31"/>
      <p:bold r:id="rId32"/>
      <p:italic r:id="rId33"/>
      <p:boldItalic r:id="rId34"/>
    </p:embeddedFont>
    <p:embeddedFont>
      <p:font typeface="Archiv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SemiBold-bold.fntdata"/><Relationship Id="rId22" Type="http://schemas.openxmlformats.org/officeDocument/2006/relationships/font" Target="fonts/MontserratSemiBold-boldItalic.fntdata"/><Relationship Id="rId21" Type="http://schemas.openxmlformats.org/officeDocument/2006/relationships/font" Target="fonts/MontserratSemiBold-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FiraSansExtraCondensedMedium-regular.fntdata"/><Relationship Id="rId30" Type="http://schemas.openxmlformats.org/officeDocument/2006/relationships/font" Target="fonts/Inter-boldItalic.fntdata"/><Relationship Id="rId11" Type="http://schemas.openxmlformats.org/officeDocument/2006/relationships/slide" Target="slides/slide7.xml"/><Relationship Id="rId33" Type="http://schemas.openxmlformats.org/officeDocument/2006/relationships/font" Target="fonts/FiraSansExtraCondensedMedium-italic.fntdata"/><Relationship Id="rId10" Type="http://schemas.openxmlformats.org/officeDocument/2006/relationships/slide" Target="slides/slide6.xml"/><Relationship Id="rId32" Type="http://schemas.openxmlformats.org/officeDocument/2006/relationships/font" Target="fonts/FiraSansExtraCondensedMedium-bold.fntdata"/><Relationship Id="rId13" Type="http://schemas.openxmlformats.org/officeDocument/2006/relationships/slide" Target="slides/slide9.xml"/><Relationship Id="rId35" Type="http://schemas.openxmlformats.org/officeDocument/2006/relationships/font" Target="fonts/Archivo-regular.fntdata"/><Relationship Id="rId12" Type="http://schemas.openxmlformats.org/officeDocument/2006/relationships/slide" Target="slides/slide8.xml"/><Relationship Id="rId34" Type="http://schemas.openxmlformats.org/officeDocument/2006/relationships/font" Target="fonts/FiraSansExtraCondensedMedium-boldItalic.fntdata"/><Relationship Id="rId15" Type="http://schemas.openxmlformats.org/officeDocument/2006/relationships/slide" Target="slides/slide11.xml"/><Relationship Id="rId37" Type="http://schemas.openxmlformats.org/officeDocument/2006/relationships/font" Target="fonts/Archivo-italic.fntdata"/><Relationship Id="rId14" Type="http://schemas.openxmlformats.org/officeDocument/2006/relationships/slide" Target="slides/slide10.xml"/><Relationship Id="rId36" Type="http://schemas.openxmlformats.org/officeDocument/2006/relationships/font" Target="fonts/Archivo-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Archivo-boldItalic.fntdata"/><Relationship Id="rId19" Type="http://schemas.openxmlformats.org/officeDocument/2006/relationships/font" Target="fonts/MontserratSemiBold-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Good evening everyone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Today we will be presenting our project on </a:t>
            </a:r>
            <a:r>
              <a:rPr i="1" lang="en">
                <a:solidFill>
                  <a:schemeClr val="dk1"/>
                </a:solidFill>
              </a:rPr>
              <a:t>travel demand forecasting for Chicago’s Transportation Network Providers and taxi system.</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19a36800b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19a36800b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is the flow of our pre</a:t>
            </a:r>
            <a:r>
              <a:rPr lang="en">
                <a:solidFill>
                  <a:schemeClr val="dk1"/>
                </a:solidFill>
              </a:rPr>
              <a:t>sentation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f2a43784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f2a43784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I’ll start with the project overview—what issue we’re solving and why it matters</a:t>
            </a:r>
            <a:endParaRPr/>
          </a:p>
          <a:p>
            <a:pPr indent="0" lvl="0" marL="0" rtl="0" algn="l">
              <a:lnSpc>
                <a:spcPct val="115000"/>
              </a:lnSpc>
              <a:spcBef>
                <a:spcPts val="1200"/>
              </a:spcBef>
              <a:spcAft>
                <a:spcPts val="0"/>
              </a:spcAft>
              <a:buNone/>
            </a:pPr>
            <a:r>
              <a:rPr lang="en"/>
              <a:t>Although TNPs and taxis offer the same service, the system isn’t efficient for riders or drivers. Riders don’t know where rides will be fastest or cheapest, and drivers lack visibility into where demand will be profitable.</a:t>
            </a:r>
            <a:endParaRPr/>
          </a:p>
          <a:p>
            <a:pPr indent="0" lvl="0" marL="0" rtl="0" algn="l">
              <a:lnSpc>
                <a:spcPct val="115000"/>
              </a:lnSpc>
              <a:spcBef>
                <a:spcPts val="1200"/>
              </a:spcBef>
              <a:spcAft>
                <a:spcPts val="0"/>
              </a:spcAft>
              <a:buNone/>
            </a:pPr>
            <a:r>
              <a:rPr lang="en"/>
              <a:t>Our goal is to support both groups. Riders face surge pricing and long waits, while drivers deal with shrinking margins and inconsistent demand. Better demand transparency can help both sides make smarter decisions.</a:t>
            </a:r>
            <a:endParaRPr/>
          </a:p>
          <a:p>
            <a:pPr indent="0" lvl="0" marL="0" rtl="0" algn="l">
              <a:lnSpc>
                <a:spcPct val="115000"/>
              </a:lnSpc>
              <a:spcBef>
                <a:spcPts val="1200"/>
              </a:spcBef>
              <a:spcAft>
                <a:spcPts val="0"/>
              </a:spcAft>
              <a:buNone/>
            </a:pPr>
            <a:r>
              <a:rPr lang="en"/>
              <a:t>So we propose a unified, neighborhood-level forecasting system which shows where demand is rising, helping drivers position themselves in high-volume areas and revealing emerging neighborhoods where new value can be captured.</a:t>
            </a:r>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da04830a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da04830a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build this system, we used two major datasets from the City of Chicago Data Portal.</a:t>
            </a:r>
            <a:endParaRPr/>
          </a:p>
          <a:p>
            <a:pPr indent="0" lvl="0" marL="0" rtl="0" algn="l">
              <a:spcBef>
                <a:spcPts val="0"/>
              </a:spcBef>
              <a:spcAft>
                <a:spcPts val="0"/>
              </a:spcAft>
              <a:buNone/>
            </a:pPr>
            <a:r>
              <a:rPr lang="en"/>
              <a:t>The TNP dataset covers detailed Uber and Lyft trips from 2018–2022 and the Taxi dataset covers taxi trips from 2013–2023, with information like Pickup &amp; drop off timestamps, duration of trip and community areas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f2a43784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f2a43784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a:t>
            </a:r>
            <a:r>
              <a:rPr lang="en"/>
              <a:t>ur first step was large-scale cleaning and standardization. We processed millions of trip records, aligned timestamps, removed invalid entries, and mapped locations to Chicago’s 77 Community Areas.</a:t>
            </a:r>
            <a:endParaRPr/>
          </a:p>
          <a:p>
            <a:pPr indent="0" lvl="0" marL="0" rtl="0" algn="l">
              <a:lnSpc>
                <a:spcPct val="115000"/>
              </a:lnSpc>
              <a:spcBef>
                <a:spcPts val="1200"/>
              </a:spcBef>
              <a:spcAft>
                <a:spcPts val="0"/>
              </a:spcAft>
              <a:buNone/>
            </a:pPr>
            <a:r>
              <a:rPr lang="en"/>
              <a:t>We then aggregated all trips into 15-minute windows and brought in weather data. Finally, we engineered features like hour-of-day, day-of-week, and weather conditions, creating a unified dataset which was used to build the forecasting model.</a:t>
            </a:r>
            <a:endParaRPr/>
          </a:p>
          <a:p>
            <a:pPr indent="0" lvl="0" marL="0" rtl="0" algn="l">
              <a:lnSpc>
                <a:spcPct val="115000"/>
              </a:lnSpc>
              <a:spcBef>
                <a:spcPts val="1200"/>
              </a:spcBef>
              <a:spcAft>
                <a:spcPts val="0"/>
              </a:spcAft>
              <a:buClr>
                <a:schemeClr val="dk1"/>
              </a:buClr>
              <a:buSzPts val="1100"/>
              <a:buFont typeface="Arial"/>
              <a:buNone/>
            </a:pPr>
            <a:r>
              <a:rPr lang="en"/>
              <a:t>Over to Eric to discuss our Machine Learning Approach</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da04830a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da04830a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String Indexer on the community areas and one hot encoded them </a:t>
            </a:r>
            <a:endParaRPr/>
          </a:p>
          <a:p>
            <a:pPr indent="-298450" lvl="0" marL="457200" rtl="0" algn="l">
              <a:spcBef>
                <a:spcPts val="0"/>
              </a:spcBef>
              <a:spcAft>
                <a:spcPts val="0"/>
              </a:spcAft>
              <a:buClr>
                <a:schemeClr val="dk1"/>
              </a:buClr>
              <a:buSzPts val="1100"/>
              <a:buChar char="●"/>
            </a:pPr>
            <a:r>
              <a:rPr lang="en">
                <a:solidFill>
                  <a:schemeClr val="dk1"/>
                </a:solidFill>
              </a:rPr>
              <a:t>Sparse vector space - 96 columns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Emulate actual model creation…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Random Forest Models </a:t>
            </a:r>
            <a:r>
              <a:rPr lang="en" sz="900">
                <a:solidFill>
                  <a:schemeClr val="dk1"/>
                </a:solidFill>
              </a:rPr>
              <a:t>They also naturally capture non-linear relationships that simpler models (like linear regression) would miss, while avoiding the instability and overfitting problems</a:t>
            </a:r>
            <a:endParaRPr sz="9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da04830a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da04830a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numTrees=50,    # smaller for now</a:t>
            </a:r>
            <a:endParaRPr/>
          </a:p>
          <a:p>
            <a:pPr indent="0" lvl="0" marL="0" rtl="0" algn="l">
              <a:spcBef>
                <a:spcPts val="0"/>
              </a:spcBef>
              <a:spcAft>
                <a:spcPts val="0"/>
              </a:spcAft>
              <a:buClr>
                <a:schemeClr val="dk1"/>
              </a:buClr>
              <a:buSzPts val="1100"/>
              <a:buFont typeface="Arial"/>
              <a:buNone/>
            </a:pPr>
            <a:r>
              <a:rPr lang="en"/>
              <a:t>    maxDepth=8,</a:t>
            </a:r>
            <a:endParaRPr/>
          </a:p>
          <a:p>
            <a:pPr indent="0" lvl="0" marL="0" rtl="0" algn="l">
              <a:spcBef>
                <a:spcPts val="0"/>
              </a:spcBef>
              <a:spcAft>
                <a:spcPts val="0"/>
              </a:spcAft>
              <a:buClr>
                <a:schemeClr val="dk1"/>
              </a:buClr>
              <a:buSzPts val="1100"/>
              <a:buFont typeface="Arial"/>
              <a:buNone/>
            </a:pPr>
            <a:r>
              <a:rPr lang="en"/>
              <a:t>    maxBins=32,</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da04830a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da04830a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t>Explaining ACF:</a:t>
            </a:r>
            <a:r>
              <a:rPr lang="en" sz="1200"/>
              <a:t> I can go into greater technical detail as to what these two graphs show during the Q&amp;A but for the sake of time and </a:t>
            </a:r>
            <a:r>
              <a:rPr lang="en" sz="1200"/>
              <a:t>clarity I will just discuss their implications.</a:t>
            </a:r>
            <a:endParaRPr sz="1200"/>
          </a:p>
          <a:p>
            <a:pPr indent="0" lvl="0" marL="0" rtl="0" algn="l">
              <a:spcBef>
                <a:spcPts val="0"/>
              </a:spcBef>
              <a:spcAft>
                <a:spcPts val="0"/>
              </a:spcAft>
              <a:buNone/>
            </a:pPr>
            <a:r>
              <a:t/>
            </a:r>
            <a:endParaRPr b="1" sz="1200" u="sng"/>
          </a:p>
          <a:p>
            <a:pPr indent="0" lvl="0" marL="0" rtl="0" algn="l">
              <a:spcBef>
                <a:spcPts val="0"/>
              </a:spcBef>
              <a:spcAft>
                <a:spcPts val="0"/>
              </a:spcAft>
              <a:buNone/>
            </a:pPr>
            <a:r>
              <a:rPr b="1" lang="en" sz="1200"/>
              <a:t>Top: </a:t>
            </a:r>
            <a:r>
              <a:rPr lang="en" sz="1200"/>
              <a:t>The two key takeaways from the top Autocorrelation Function (ACF) function are that it shows demand is both consistent within the hour and at the same time across days.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For the first point this means that the demand at 5:00 PM is highly effective in predicting demand at 5:15 PM, 5:30 PM, 5:45 PM, and 6:00 PM with considerable predictive effects existing for a good period of time outside of that range</a:t>
            </a:r>
            <a:endParaRPr sz="1200"/>
          </a:p>
          <a:p>
            <a:pPr indent="-304800" lvl="0" marL="457200" rtl="0" algn="l">
              <a:spcBef>
                <a:spcPts val="0"/>
              </a:spcBef>
              <a:spcAft>
                <a:spcPts val="0"/>
              </a:spcAft>
              <a:buSzPts val="1200"/>
              <a:buChar char="-"/>
            </a:pPr>
            <a:r>
              <a:rPr lang="en" sz="1200"/>
              <a:t>For the second point this implies that the demand at 5:00 PM today is highly correlated to the demand tomorrow at 5:00 PM. This is logical, especially during the week, because people’s behavioral patterns are </a:t>
            </a:r>
            <a:r>
              <a:rPr lang="en" sz="1200"/>
              <a:t>likely</a:t>
            </a:r>
            <a:r>
              <a:rPr lang="en" sz="1200"/>
              <a:t> similar at the same time on both Monday and Tuesday.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b="1" lang="en" sz="1200"/>
              <a:t>Bottom: </a:t>
            </a:r>
            <a:r>
              <a:rPr lang="en" sz="1200"/>
              <a:t> For the bottom Partial </a:t>
            </a:r>
            <a:r>
              <a:rPr lang="en" sz="1200">
                <a:solidFill>
                  <a:schemeClr val="dk1"/>
                </a:solidFill>
              </a:rPr>
              <a:t>Autocorrelation Function (PACF) graph this reinforces the idea that the demand 15-minutes prior to any given time is the most important in predicting demand.</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For example, the demand at 5:00 PM ALONE is very effective in predicting demand at 5:15 PM, because demand at 4:45 PM will add very little new information to the prediction that isn’t already captured by the demand at 5:00 PM</a:t>
            </a:r>
            <a:endParaRPr sz="12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da04830a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ada04830a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f1c769e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af1c769e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ada04830a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ada04830a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Key Recommendations:</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For drivers</a:t>
            </a:r>
            <a:r>
              <a:rPr lang="en" sz="1200">
                <a:solidFill>
                  <a:schemeClr val="dk1"/>
                </a:solidFill>
              </a:rPr>
              <a:t>: Focus on high-demand areas. Concentrate operations in top-volume neighborhoods to maintain consistent trips and stable earnings.</a:t>
            </a:r>
            <a:endParaRPr sz="1200">
              <a:solidFill>
                <a:schemeClr val="dk1"/>
              </a:solidFill>
            </a:endParaRPr>
          </a:p>
          <a:p>
            <a:pPr indent="-304800" lvl="0" marL="457200" rtl="0" algn="l">
              <a:lnSpc>
                <a:spcPct val="115000"/>
              </a:lnSpc>
              <a:spcBef>
                <a:spcPts val="1000"/>
              </a:spcBef>
              <a:spcAft>
                <a:spcPts val="0"/>
              </a:spcAft>
              <a:buClr>
                <a:schemeClr val="dk1"/>
              </a:buClr>
              <a:buSzPts val="1200"/>
              <a:buChar char="●"/>
            </a:pPr>
            <a:r>
              <a:rPr b="1" lang="en" sz="1200">
                <a:solidFill>
                  <a:schemeClr val="dk1"/>
                </a:solidFill>
              </a:rPr>
              <a:t>Leverage ML predictions</a:t>
            </a:r>
            <a:r>
              <a:rPr lang="en" sz="1200">
                <a:solidFill>
                  <a:schemeClr val="dk1"/>
                </a:solidFill>
              </a:rPr>
              <a:t>: Use model-identified peak times and hotspots to optimize driver positioning and support better trip planning.</a:t>
            </a:r>
            <a:endParaRPr sz="1200">
              <a:solidFill>
                <a:schemeClr val="dk1"/>
              </a:solidFill>
            </a:endParaRPr>
          </a:p>
          <a:p>
            <a:pPr indent="-304800" lvl="0" marL="457200" rtl="0" algn="l">
              <a:lnSpc>
                <a:spcPct val="115000"/>
              </a:lnSpc>
              <a:spcBef>
                <a:spcPts val="1000"/>
              </a:spcBef>
              <a:spcAft>
                <a:spcPts val="0"/>
              </a:spcAft>
              <a:buClr>
                <a:schemeClr val="dk1"/>
              </a:buClr>
              <a:buSzPts val="1200"/>
              <a:buChar char="●"/>
            </a:pPr>
            <a:r>
              <a:rPr b="1" lang="en" sz="1200">
                <a:solidFill>
                  <a:schemeClr val="dk1"/>
                </a:solidFill>
              </a:rPr>
              <a:t>Unlock emerging area value</a:t>
            </a:r>
            <a:r>
              <a:rPr lang="en" sz="1200">
                <a:solidFill>
                  <a:schemeClr val="dk1"/>
                </a:solidFill>
              </a:rPr>
              <a:t>: Target lower-demand but high-potential neighborhoods to expand service coverage and support local development.</a:t>
            </a:r>
            <a:endParaRPr sz="1200">
              <a:solidFill>
                <a:schemeClr val="dk1"/>
              </a:solidFill>
            </a:endParaRPr>
          </a:p>
          <a:p>
            <a:pPr indent="-304800" lvl="0" marL="457200" rtl="0" algn="l">
              <a:lnSpc>
                <a:spcPct val="115000"/>
              </a:lnSpc>
              <a:spcBef>
                <a:spcPts val="1000"/>
              </a:spcBef>
              <a:spcAft>
                <a:spcPts val="0"/>
              </a:spcAft>
              <a:buClr>
                <a:schemeClr val="dk1"/>
              </a:buClr>
              <a:buSzPts val="1200"/>
              <a:buChar char="●"/>
            </a:pPr>
            <a:r>
              <a:rPr b="1" lang="en" sz="1200">
                <a:solidFill>
                  <a:schemeClr val="dk1"/>
                </a:solidFill>
              </a:rPr>
              <a:t>Market-wide applicability</a:t>
            </a:r>
            <a:r>
              <a:rPr lang="en" sz="1200">
                <a:solidFill>
                  <a:schemeClr val="dk1"/>
                </a:solidFill>
              </a:rPr>
              <a:t>: Insights can be extended to other major U.S. metro areas for broader implementation.</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Need for updated data</a:t>
            </a:r>
            <a:r>
              <a:rPr lang="en" sz="1200">
                <a:solidFill>
                  <a:schemeClr val="dk1"/>
                </a:solidFill>
              </a:rPr>
              <a:t>: Refresh the analysis with post-2022 data to reflect recent economic shifts and improve model performance.</a:t>
            </a:r>
            <a:endParaRPr sz="19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da04830a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da04830a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200"/>
              </a:spcBef>
              <a:spcAft>
                <a:spcPts val="0"/>
              </a:spcAft>
              <a:buNone/>
            </a:pPr>
            <a:r>
              <a:rPr lang="en" sz="1200">
                <a:solidFill>
                  <a:schemeClr val="dk1"/>
                </a:solidFill>
              </a:rPr>
              <a:t>Resource constraints: We used up our credits because we first chose clusters that were too large. Later, when we switched to cheaper setups, the kernel often crashed when we ran analyses at the same time. This limited how deep we could go with ML and how creative we could be, and it showed that big data work needs both resources and careful planning—not just coding.</a:t>
            </a:r>
            <a:endParaRPr sz="1200">
              <a:solidFill>
                <a:schemeClr val="dk1"/>
              </a:solidFill>
            </a:endParaRPr>
          </a:p>
          <a:p>
            <a:pPr indent="0" lvl="0" marL="0" rtl="0" algn="l">
              <a:lnSpc>
                <a:spcPct val="115000"/>
              </a:lnSpc>
              <a:spcBef>
                <a:spcPts val="2200"/>
              </a:spcBef>
              <a:spcAft>
                <a:spcPts val="0"/>
              </a:spcAft>
              <a:buNone/>
            </a:pPr>
            <a:r>
              <a:rPr lang="en" sz="1200">
                <a:solidFill>
                  <a:schemeClr val="dk1"/>
                </a:solidFill>
              </a:rPr>
              <a:t>Workflow inefficiencies: To reduce costs and avoid conflicts, we ran the analysis on the cluster but wrote the report in Colab after manually downloading and merging files. This helped with cost control and collaboration, but it added extra manual work and made changes harder, showing both the strengths and limits of cloud + notebook workflows.</a:t>
            </a:r>
            <a:endParaRPr sz="1200">
              <a:solidFill>
                <a:schemeClr val="dk1"/>
              </a:solidFill>
            </a:endParaRPr>
          </a:p>
          <a:p>
            <a:pPr indent="0" lvl="0" marL="0" rtl="0" algn="l">
              <a:lnSpc>
                <a:spcPct val="115000"/>
              </a:lnSpc>
              <a:spcBef>
                <a:spcPts val="2200"/>
              </a:spcBef>
              <a:spcAft>
                <a:spcPts val="0"/>
              </a:spcAft>
              <a:buClr>
                <a:schemeClr val="dk1"/>
              </a:buClr>
              <a:buSzPts val="1100"/>
              <a:buFont typeface="Arial"/>
              <a:buNone/>
            </a:pPr>
            <a:r>
              <a:rPr lang="en" sz="1200">
                <a:solidFill>
                  <a:schemeClr val="dk1"/>
                </a:solidFill>
              </a:rPr>
              <a:t>Data limitations: Because the pre-pandemic data quality was poor, we mainly used post-pandemic data (Feb 2021 to late 2022). This gave us less data than expected. Since the economy has changed a lot after 2022, our results and ML model performance may be less reliable today, even though we think the main insights are still meaningful.</a:t>
            </a:r>
            <a:endParaRPr sz="1200">
              <a:solidFill>
                <a:schemeClr val="dk1"/>
              </a:solidFill>
            </a:endParaRPr>
          </a:p>
          <a:p>
            <a:pPr indent="0" lvl="0" marL="0" rtl="0" algn="l">
              <a:lnSpc>
                <a:spcPct val="115000"/>
              </a:lnSpc>
              <a:spcBef>
                <a:spcPts val="2200"/>
              </a:spcBef>
              <a:spcAft>
                <a:spcPts val="1200"/>
              </a:spcAft>
              <a:buNone/>
            </a:pPr>
            <a:r>
              <a:t/>
            </a: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da04830a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da04830a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da04830a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da04830a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643858" y="1172225"/>
            <a:ext cx="6770700" cy="2052600"/>
          </a:xfrm>
          <a:prstGeom prst="rect">
            <a:avLst/>
          </a:prstGeom>
        </p:spPr>
        <p:txBody>
          <a:bodyPr anchorCtr="0" anchor="b" bIns="91425" lIns="91425" spcFirstLastPara="1" rIns="91425" wrap="square" tIns="91425">
            <a:noAutofit/>
          </a:bodyPr>
          <a:lstStyle>
            <a:lvl1pPr lvl="0" algn="r">
              <a:spcBef>
                <a:spcPts val="0"/>
              </a:spcBef>
              <a:spcAft>
                <a:spcPts val="0"/>
              </a:spcAft>
              <a:buSzPts val="5200"/>
              <a:buNone/>
              <a:defRPr sz="5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643852" y="3261775"/>
            <a:ext cx="6770700" cy="557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968425" y="2227050"/>
            <a:ext cx="4462500" cy="8418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47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 type="subTitle"/>
          </p:nvPr>
        </p:nvSpPr>
        <p:spPr>
          <a:xfrm>
            <a:off x="3968275" y="3045375"/>
            <a:ext cx="4462500" cy="678000"/>
          </a:xfrm>
          <a:prstGeom prst="rect">
            <a:avLst/>
          </a:prstGeom>
        </p:spPr>
        <p:txBody>
          <a:bodyPr anchorCtr="0" anchor="t" bIns="91425" lIns="91425" spcFirstLastPara="1" rIns="91425" wrap="square" tIns="91425">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6" name="Google Shape;16;p3"/>
          <p:cNvSpPr txBox="1"/>
          <p:nvPr>
            <p:ph hasCustomPrompt="1" idx="2" type="title"/>
          </p:nvPr>
        </p:nvSpPr>
        <p:spPr>
          <a:xfrm>
            <a:off x="3968350" y="1262325"/>
            <a:ext cx="4462500" cy="1141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7200"/>
              <a:buNone/>
              <a:defRPr sz="7200">
                <a:solidFill>
                  <a:schemeClr val="dk2"/>
                </a:solidFill>
              </a:defRPr>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a:r>
              <a:t>xx%</a:t>
            </a:r>
          </a:p>
        </p:txBody>
      </p:sp>
      <p:sp>
        <p:nvSpPr>
          <p:cNvPr id="17" name="Google Shape;17;p3"/>
          <p:cNvSpPr/>
          <p:nvPr/>
        </p:nvSpPr>
        <p:spPr>
          <a:xfrm flipH="1" rot="10800000">
            <a:off x="1441925" y="2571600"/>
            <a:ext cx="1216200" cy="1592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flipH="1" rot="10800000">
            <a:off x="2658125" y="0"/>
            <a:ext cx="12162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idx="1" type="body"/>
          </p:nvPr>
        </p:nvSpPr>
        <p:spPr>
          <a:xfrm>
            <a:off x="713225" y="1152475"/>
            <a:ext cx="77175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Barlow"/>
              <a:buChar char="●"/>
              <a:defRPr sz="1200"/>
            </a:lvl1pPr>
            <a:lvl2pPr indent="-317500" lvl="1" marL="914400">
              <a:spcBef>
                <a:spcPts val="1600"/>
              </a:spcBef>
              <a:spcAft>
                <a:spcPts val="0"/>
              </a:spcAft>
              <a:buSzPts val="1400"/>
              <a:buFont typeface="Barlow"/>
              <a:buChar char="○"/>
              <a:defRPr sz="1200"/>
            </a:lvl2pPr>
            <a:lvl3pPr indent="-317500" lvl="2" marL="1371600">
              <a:spcBef>
                <a:spcPts val="1600"/>
              </a:spcBef>
              <a:spcAft>
                <a:spcPts val="0"/>
              </a:spcAft>
              <a:buClr>
                <a:schemeClr val="lt1"/>
              </a:buClr>
              <a:buSzPts val="1400"/>
              <a:buFont typeface="Barlow"/>
              <a:buChar char="■"/>
              <a:defRPr/>
            </a:lvl3pPr>
            <a:lvl4pPr indent="-317500" lvl="3" marL="1828800">
              <a:spcBef>
                <a:spcPts val="1600"/>
              </a:spcBef>
              <a:spcAft>
                <a:spcPts val="0"/>
              </a:spcAft>
              <a:buClr>
                <a:schemeClr val="lt1"/>
              </a:buClr>
              <a:buSzPts val="1400"/>
              <a:buFont typeface="Barlow"/>
              <a:buChar char="●"/>
              <a:defRPr/>
            </a:lvl4pPr>
            <a:lvl5pPr indent="-317500" lvl="4" marL="2286000">
              <a:spcBef>
                <a:spcPts val="1600"/>
              </a:spcBef>
              <a:spcAft>
                <a:spcPts val="0"/>
              </a:spcAft>
              <a:buClr>
                <a:schemeClr val="lt1"/>
              </a:buClr>
              <a:buSzPts val="1400"/>
              <a:buFont typeface="Barlow"/>
              <a:buChar char="○"/>
              <a:defRPr/>
            </a:lvl5pPr>
            <a:lvl6pPr indent="-317500" lvl="5" marL="2743200">
              <a:spcBef>
                <a:spcPts val="1600"/>
              </a:spcBef>
              <a:spcAft>
                <a:spcPts val="0"/>
              </a:spcAft>
              <a:buClr>
                <a:schemeClr val="lt1"/>
              </a:buClr>
              <a:buSzPts val="1400"/>
              <a:buFont typeface="Barlow"/>
              <a:buChar char="■"/>
              <a:defRPr/>
            </a:lvl6pPr>
            <a:lvl7pPr indent="-317500" lvl="6" marL="3200400">
              <a:spcBef>
                <a:spcPts val="1600"/>
              </a:spcBef>
              <a:spcAft>
                <a:spcPts val="0"/>
              </a:spcAft>
              <a:buClr>
                <a:schemeClr val="lt1"/>
              </a:buClr>
              <a:buSzPts val="1400"/>
              <a:buFont typeface="Barlow"/>
              <a:buChar char="●"/>
              <a:defRPr/>
            </a:lvl7pPr>
            <a:lvl8pPr indent="-317500" lvl="7" marL="3657600">
              <a:spcBef>
                <a:spcPts val="1600"/>
              </a:spcBef>
              <a:spcAft>
                <a:spcPts val="0"/>
              </a:spcAft>
              <a:buClr>
                <a:schemeClr val="lt1"/>
              </a:buClr>
              <a:buSzPts val="1400"/>
              <a:buFont typeface="Barlow"/>
              <a:buChar char="○"/>
              <a:defRPr/>
            </a:lvl8pPr>
            <a:lvl9pPr indent="-317500" lvl="8" marL="4114800">
              <a:spcBef>
                <a:spcPts val="1600"/>
              </a:spcBef>
              <a:spcAft>
                <a:spcPts val="1600"/>
              </a:spcAft>
              <a:buClr>
                <a:schemeClr val="lt1"/>
              </a:buClr>
              <a:buSzPts val="1400"/>
              <a:buFont typeface="Barlow"/>
              <a:buChar char="■"/>
              <a:defRPr/>
            </a:lvl9pPr>
          </a:lstStyle>
          <a:p/>
        </p:txBody>
      </p:sp>
      <p:sp>
        <p:nvSpPr>
          <p:cNvPr id="22" name="Google Shape;22;p4"/>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4"/>
          <p:cNvSpPr txBox="1"/>
          <p:nvPr/>
        </p:nvSpPr>
        <p:spPr>
          <a:xfrm>
            <a:off x="0" y="4955700"/>
            <a:ext cx="2008500" cy="18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accent1"/>
                </a:solidFill>
                <a:latin typeface="Montserrat"/>
                <a:ea typeface="Montserrat"/>
                <a:cs typeface="Montserrat"/>
                <a:sym typeface="Montserrat"/>
              </a:rPr>
              <a:t>QST 843 | Team 8 | FInal Deliverable</a:t>
            </a:r>
            <a:endParaRPr sz="700">
              <a:solidFill>
                <a:schemeClr val="accent1"/>
              </a:solidFill>
              <a:latin typeface="Montserrat"/>
              <a:ea typeface="Montserrat"/>
              <a:cs typeface="Montserrat"/>
              <a:sym typeface="Montserrat"/>
            </a:endParaRPr>
          </a:p>
        </p:txBody>
      </p:sp>
      <p:sp>
        <p:nvSpPr>
          <p:cNvPr id="24" name="Google Shape;24;p4"/>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lvl1pPr lvl="0" algn="ctr">
              <a:buNone/>
              <a:defRPr sz="1000"/>
            </a:lvl1pPr>
            <a:lvl2pPr lvl="1" algn="ctr">
              <a:buNone/>
              <a:defRPr sz="1000"/>
            </a:lvl2pPr>
            <a:lvl3pPr lvl="2" algn="ctr">
              <a:buNone/>
              <a:defRPr sz="1000"/>
            </a:lvl3pPr>
            <a:lvl4pPr lvl="3" algn="ctr">
              <a:buNone/>
              <a:defRPr sz="1000"/>
            </a:lvl4pPr>
            <a:lvl5pPr lvl="4" algn="ctr">
              <a:buNone/>
              <a:defRPr sz="1000"/>
            </a:lvl5pPr>
            <a:lvl6pPr lvl="5" algn="ctr">
              <a:buNone/>
              <a:defRPr sz="1000"/>
            </a:lvl6pPr>
            <a:lvl7pPr lvl="6" algn="ctr">
              <a:buNone/>
              <a:defRPr sz="1000"/>
            </a:lvl7pPr>
            <a:lvl8pPr lvl="7" algn="ctr">
              <a:buNone/>
              <a:defRPr sz="1000"/>
            </a:lvl8pPr>
            <a:lvl9pPr lvl="8" algn="ctr">
              <a:buNone/>
              <a:defRPr sz="1000"/>
            </a:lvl9pPr>
          </a:lstStyle>
          <a:p>
            <a:pPr indent="0" lvl="0" marL="0" rtl="0" algn="ctr">
              <a:spcBef>
                <a:spcPts val="0"/>
              </a:spcBef>
              <a:spcAft>
                <a:spcPts val="0"/>
              </a:spcAft>
              <a:buNone/>
            </a:pPr>
            <a:fld id="{00000000-1234-1234-1234-123412341234}" type="slidenum">
              <a:rPr lang="en"/>
              <a:t>‹#›</a:t>
            </a:fld>
            <a:endParaRPr/>
          </a:p>
        </p:txBody>
      </p:sp>
      <p:pic>
        <p:nvPicPr>
          <p:cNvPr id="25" name="Google Shape;25;p4"/>
          <p:cNvPicPr preferRelativeResize="0"/>
          <p:nvPr/>
        </p:nvPicPr>
        <p:blipFill>
          <a:blip r:embed="rId2">
            <a:alphaModFix/>
          </a:blip>
          <a:stretch>
            <a:fillRect/>
          </a:stretch>
        </p:blipFill>
        <p:spPr>
          <a:xfrm>
            <a:off x="8376554" y="81637"/>
            <a:ext cx="685798" cy="37229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txBox="1"/>
          <p:nvPr>
            <p:ph type="title"/>
          </p:nvPr>
        </p:nvSpPr>
        <p:spPr>
          <a:xfrm>
            <a:off x="713225" y="384048"/>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5"/>
          <p:cNvSpPr txBox="1"/>
          <p:nvPr>
            <p:ph idx="1" type="body"/>
          </p:nvPr>
        </p:nvSpPr>
        <p:spPr>
          <a:xfrm>
            <a:off x="713225" y="2371675"/>
            <a:ext cx="2987100" cy="1279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000043"/>
              </a:buClr>
              <a:buSzPts val="1400"/>
              <a:buFont typeface="Quicksand Medium"/>
              <a:buChar char=""/>
              <a:defRPr sz="1400">
                <a:solidFill>
                  <a:schemeClr val="dk1"/>
                </a:solidFill>
              </a:defRPr>
            </a:lvl1pPr>
            <a:lvl2pPr indent="-317500" lvl="1" marL="914400">
              <a:spcBef>
                <a:spcPts val="0"/>
              </a:spcBef>
              <a:spcAft>
                <a:spcPts val="0"/>
              </a:spcAft>
              <a:buClr>
                <a:srgbClr val="000043"/>
              </a:buClr>
              <a:buSzPts val="1400"/>
              <a:buFont typeface="Quicksand Medium"/>
              <a:buChar char="●"/>
              <a:defRPr sz="1200"/>
            </a:lvl2pPr>
            <a:lvl3pPr indent="-317500" lvl="2" marL="1371600">
              <a:spcBef>
                <a:spcPts val="1600"/>
              </a:spcBef>
              <a:spcAft>
                <a:spcPts val="0"/>
              </a:spcAft>
              <a:buClr>
                <a:srgbClr val="000043"/>
              </a:buClr>
              <a:buSzPts val="1400"/>
              <a:buFont typeface="Quicksand Medium"/>
              <a:buChar char="■"/>
              <a:defRPr sz="1200"/>
            </a:lvl3pPr>
            <a:lvl4pPr indent="-317500" lvl="3" marL="1828800">
              <a:spcBef>
                <a:spcPts val="1600"/>
              </a:spcBef>
              <a:spcAft>
                <a:spcPts val="0"/>
              </a:spcAft>
              <a:buClr>
                <a:srgbClr val="000043"/>
              </a:buClr>
              <a:buSzPts val="1400"/>
              <a:buFont typeface="Quicksand Medium"/>
              <a:buChar char="●"/>
              <a:defRPr sz="1200"/>
            </a:lvl4pPr>
            <a:lvl5pPr indent="-317500" lvl="4" marL="2286000">
              <a:spcBef>
                <a:spcPts val="1600"/>
              </a:spcBef>
              <a:spcAft>
                <a:spcPts val="0"/>
              </a:spcAft>
              <a:buClr>
                <a:srgbClr val="000043"/>
              </a:buClr>
              <a:buSzPts val="1400"/>
              <a:buFont typeface="Quicksand Medium"/>
              <a:buChar char="○"/>
              <a:defRPr sz="1200"/>
            </a:lvl5pPr>
            <a:lvl6pPr indent="-317500" lvl="5" marL="2743200">
              <a:spcBef>
                <a:spcPts val="1600"/>
              </a:spcBef>
              <a:spcAft>
                <a:spcPts val="0"/>
              </a:spcAft>
              <a:buClr>
                <a:srgbClr val="000043"/>
              </a:buClr>
              <a:buSzPts val="1400"/>
              <a:buFont typeface="Quicksand Medium"/>
              <a:buChar char="■"/>
              <a:defRPr sz="1200"/>
            </a:lvl6pPr>
            <a:lvl7pPr indent="-317500" lvl="6" marL="3200400">
              <a:spcBef>
                <a:spcPts val="1600"/>
              </a:spcBef>
              <a:spcAft>
                <a:spcPts val="0"/>
              </a:spcAft>
              <a:buClr>
                <a:srgbClr val="000043"/>
              </a:buClr>
              <a:buSzPts val="1400"/>
              <a:buFont typeface="Quicksand Medium"/>
              <a:buChar char="●"/>
              <a:defRPr sz="1200"/>
            </a:lvl7pPr>
            <a:lvl8pPr indent="-317500" lvl="7" marL="3657600">
              <a:spcBef>
                <a:spcPts val="1600"/>
              </a:spcBef>
              <a:spcAft>
                <a:spcPts val="0"/>
              </a:spcAft>
              <a:buClr>
                <a:srgbClr val="000043"/>
              </a:buClr>
              <a:buSzPts val="1400"/>
              <a:buFont typeface="Quicksand Medium"/>
              <a:buChar char="○"/>
              <a:defRPr sz="1200"/>
            </a:lvl8pPr>
            <a:lvl9pPr indent="-317500" lvl="8" marL="4114800">
              <a:spcBef>
                <a:spcPts val="1600"/>
              </a:spcBef>
              <a:spcAft>
                <a:spcPts val="1600"/>
              </a:spcAft>
              <a:buClr>
                <a:srgbClr val="000043"/>
              </a:buClr>
              <a:buSzPts val="1400"/>
              <a:buFont typeface="Quicksand Medium"/>
              <a:buChar char="■"/>
              <a:defRPr sz="1200"/>
            </a:lvl9pPr>
          </a:lstStyle>
          <a:p/>
        </p:txBody>
      </p:sp>
      <p:sp>
        <p:nvSpPr>
          <p:cNvPr id="29" name="Google Shape;29;p5"/>
          <p:cNvSpPr txBox="1"/>
          <p:nvPr>
            <p:ph idx="2" type="body"/>
          </p:nvPr>
        </p:nvSpPr>
        <p:spPr>
          <a:xfrm>
            <a:off x="3962400" y="2371675"/>
            <a:ext cx="2987100" cy="1279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000043"/>
              </a:buClr>
              <a:buSzPts val="1400"/>
              <a:buFont typeface="Quicksand Medium"/>
              <a:buChar char=""/>
              <a:defRPr sz="1400">
                <a:solidFill>
                  <a:schemeClr val="dk1"/>
                </a:solidFill>
              </a:defRPr>
            </a:lvl1pPr>
            <a:lvl2pPr indent="-317500" lvl="1" marL="914400">
              <a:spcBef>
                <a:spcPts val="0"/>
              </a:spcBef>
              <a:spcAft>
                <a:spcPts val="0"/>
              </a:spcAft>
              <a:buClr>
                <a:srgbClr val="000043"/>
              </a:buClr>
              <a:buSzPts val="1400"/>
              <a:buFont typeface="Quicksand Medium"/>
              <a:buChar char="●"/>
              <a:defRPr sz="1200"/>
            </a:lvl2pPr>
            <a:lvl3pPr indent="-317500" lvl="2" marL="1371600">
              <a:spcBef>
                <a:spcPts val="1600"/>
              </a:spcBef>
              <a:spcAft>
                <a:spcPts val="0"/>
              </a:spcAft>
              <a:buClr>
                <a:srgbClr val="000043"/>
              </a:buClr>
              <a:buSzPts val="1400"/>
              <a:buFont typeface="Quicksand Medium"/>
              <a:buChar char="■"/>
              <a:defRPr sz="1200"/>
            </a:lvl3pPr>
            <a:lvl4pPr indent="-317500" lvl="3" marL="1828800">
              <a:spcBef>
                <a:spcPts val="1600"/>
              </a:spcBef>
              <a:spcAft>
                <a:spcPts val="0"/>
              </a:spcAft>
              <a:buClr>
                <a:srgbClr val="000043"/>
              </a:buClr>
              <a:buSzPts val="1400"/>
              <a:buFont typeface="Quicksand Medium"/>
              <a:buChar char="●"/>
              <a:defRPr sz="1200"/>
            </a:lvl4pPr>
            <a:lvl5pPr indent="-317500" lvl="4" marL="2286000">
              <a:spcBef>
                <a:spcPts val="1600"/>
              </a:spcBef>
              <a:spcAft>
                <a:spcPts val="0"/>
              </a:spcAft>
              <a:buClr>
                <a:srgbClr val="000043"/>
              </a:buClr>
              <a:buSzPts val="1400"/>
              <a:buFont typeface="Quicksand Medium"/>
              <a:buChar char="○"/>
              <a:defRPr sz="1200"/>
            </a:lvl5pPr>
            <a:lvl6pPr indent="-317500" lvl="5" marL="2743200">
              <a:spcBef>
                <a:spcPts val="1600"/>
              </a:spcBef>
              <a:spcAft>
                <a:spcPts val="0"/>
              </a:spcAft>
              <a:buClr>
                <a:srgbClr val="000043"/>
              </a:buClr>
              <a:buSzPts val="1400"/>
              <a:buFont typeface="Quicksand Medium"/>
              <a:buChar char="■"/>
              <a:defRPr sz="1200"/>
            </a:lvl6pPr>
            <a:lvl7pPr indent="-317500" lvl="6" marL="3200400">
              <a:spcBef>
                <a:spcPts val="1600"/>
              </a:spcBef>
              <a:spcAft>
                <a:spcPts val="0"/>
              </a:spcAft>
              <a:buClr>
                <a:srgbClr val="000043"/>
              </a:buClr>
              <a:buSzPts val="1400"/>
              <a:buFont typeface="Quicksand Medium"/>
              <a:buChar char="●"/>
              <a:defRPr sz="1200"/>
            </a:lvl7pPr>
            <a:lvl8pPr indent="-317500" lvl="7" marL="3657600">
              <a:spcBef>
                <a:spcPts val="1600"/>
              </a:spcBef>
              <a:spcAft>
                <a:spcPts val="0"/>
              </a:spcAft>
              <a:buClr>
                <a:srgbClr val="000043"/>
              </a:buClr>
              <a:buSzPts val="1400"/>
              <a:buFont typeface="Quicksand Medium"/>
              <a:buChar char="○"/>
              <a:defRPr sz="1200"/>
            </a:lvl8pPr>
            <a:lvl9pPr indent="-317500" lvl="8" marL="4114800">
              <a:spcBef>
                <a:spcPts val="1600"/>
              </a:spcBef>
              <a:spcAft>
                <a:spcPts val="1600"/>
              </a:spcAft>
              <a:buClr>
                <a:srgbClr val="000043"/>
              </a:buClr>
              <a:buSzPts val="1400"/>
              <a:buFont typeface="Quicksand Medium"/>
              <a:buChar char="■"/>
              <a:defRPr sz="1200"/>
            </a:lvl9pPr>
          </a:lstStyle>
          <a:p/>
        </p:txBody>
      </p:sp>
      <p:sp>
        <p:nvSpPr>
          <p:cNvPr id="30" name="Google Shape;30;p5"/>
          <p:cNvSpPr txBox="1"/>
          <p:nvPr>
            <p:ph idx="3" type="subTitle"/>
          </p:nvPr>
        </p:nvSpPr>
        <p:spPr>
          <a:xfrm>
            <a:off x="713225" y="1925800"/>
            <a:ext cx="2987100" cy="470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800"/>
              <a:buNone/>
              <a:defRPr b="1">
                <a:solidFill>
                  <a:schemeClr val="accen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31" name="Google Shape;31;p5"/>
          <p:cNvSpPr txBox="1"/>
          <p:nvPr>
            <p:ph idx="4" type="subTitle"/>
          </p:nvPr>
        </p:nvSpPr>
        <p:spPr>
          <a:xfrm>
            <a:off x="3962400" y="1925800"/>
            <a:ext cx="2987100" cy="470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800"/>
              <a:buNone/>
              <a:defRPr b="1">
                <a:solidFill>
                  <a:schemeClr val="accen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2" name="Google Shape;32;p5"/>
          <p:cNvSpPr/>
          <p:nvPr/>
        </p:nvSpPr>
        <p:spPr>
          <a:xfrm>
            <a:off x="7520700" y="205110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6304500" y="0"/>
            <a:ext cx="1216200" cy="205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717800" y="383175"/>
            <a:ext cx="7708200" cy="647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37" name="Google Shape;37;p6"/>
          <p:cNvSpPr/>
          <p:nvPr/>
        </p:nvSpPr>
        <p:spPr>
          <a:xfrm rot="5400000">
            <a:off x="6703350" y="270292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ph type="title"/>
          </p:nvPr>
        </p:nvSpPr>
        <p:spPr>
          <a:xfrm>
            <a:off x="1156525" y="1340400"/>
            <a:ext cx="42321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1156525" y="2096100"/>
            <a:ext cx="4232100" cy="201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400">
                <a:solidFill>
                  <a:schemeClr val="accent2"/>
                </a:solidFill>
              </a:defRPr>
            </a:lvl1pPr>
            <a:lvl2pPr indent="-304800" lvl="1" marL="914400">
              <a:spcBef>
                <a:spcPts val="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7"/>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7951325" y="257175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713225" y="1170000"/>
            <a:ext cx="5533200" cy="28035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4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solidFill>
                <a:schemeClr val="dk1"/>
              </a:solidFill>
            </a:endParaRPr>
          </a:p>
        </p:txBody>
      </p:sp>
      <p:sp>
        <p:nvSpPr>
          <p:cNvPr id="48" name="Google Shape;48;p8"/>
          <p:cNvSpPr/>
          <p:nvPr/>
        </p:nvSpPr>
        <p:spPr>
          <a:xfrm>
            <a:off x="6732125"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a:off x="7951325" y="2571750"/>
            <a:ext cx="1216200" cy="134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txBox="1"/>
          <p:nvPr>
            <p:ph type="title"/>
          </p:nvPr>
        </p:nvSpPr>
        <p:spPr>
          <a:xfrm>
            <a:off x="713375" y="2227050"/>
            <a:ext cx="44625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700">
                <a:solidFill>
                  <a:schemeClr val="accent1"/>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52" name="Google Shape;52;p9"/>
          <p:cNvSpPr txBox="1"/>
          <p:nvPr>
            <p:ph idx="1" type="subTitle"/>
          </p:nvPr>
        </p:nvSpPr>
        <p:spPr>
          <a:xfrm>
            <a:off x="713225" y="3045375"/>
            <a:ext cx="4462500" cy="6780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3" name="Google Shape;53;p9"/>
          <p:cNvSpPr txBox="1"/>
          <p:nvPr>
            <p:ph hasCustomPrompt="1" idx="2" type="title"/>
          </p:nvPr>
        </p:nvSpPr>
        <p:spPr>
          <a:xfrm>
            <a:off x="713300" y="1262325"/>
            <a:ext cx="4462500" cy="1141800"/>
          </a:xfrm>
          <a:prstGeom prst="rect">
            <a:avLst/>
          </a:prstGeom>
        </p:spPr>
        <p:txBody>
          <a:bodyPr anchorCtr="0" anchor="b" bIns="91425" lIns="91425" spcFirstLastPara="1" rIns="91425" wrap="square" tIns="91425">
            <a:noAutofit/>
          </a:bodyPr>
          <a:lstStyle>
            <a:lvl1pPr lvl="0" rtl="0">
              <a:spcBef>
                <a:spcPts val="0"/>
              </a:spcBef>
              <a:spcAft>
                <a:spcPts val="0"/>
              </a:spcAft>
              <a:buSzPts val="7200"/>
              <a:buNone/>
              <a:defRPr sz="7200">
                <a:solidFill>
                  <a:schemeClr val="dk2"/>
                </a:solidFill>
              </a:defRPr>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54" name="Google Shape;54;p9"/>
          <p:cNvSpPr/>
          <p:nvPr/>
        </p:nvSpPr>
        <p:spPr>
          <a:xfrm>
            <a:off x="5270400" y="979500"/>
            <a:ext cx="1216200" cy="1592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6486600" y="2571900"/>
            <a:ext cx="12162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713225" y="544075"/>
            <a:ext cx="4264800" cy="1541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b="1" sz="3800">
                <a:solidFill>
                  <a:schemeClr val="accent1"/>
                </a:solidFill>
                <a:latin typeface="Inter"/>
                <a:ea typeface="Inter"/>
                <a:cs typeface="Inter"/>
                <a:sym typeface="Inter"/>
              </a:defRPr>
            </a:lvl1pPr>
          </a:lstStyle>
          <a:p/>
        </p:txBody>
      </p:sp>
      <p:sp>
        <p:nvSpPr>
          <p:cNvPr id="59" name="Google Shape;59;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accent1"/>
                </a:solidFill>
                <a:latin typeface="Inter"/>
                <a:ea typeface="Inter"/>
                <a:cs typeface="Inter"/>
                <a:sym typeface="Inter"/>
              </a:defRPr>
            </a:lvl1pPr>
            <a:lvl2pPr lvl="1">
              <a:buNone/>
              <a:defRPr>
                <a:solidFill>
                  <a:schemeClr val="accent1"/>
                </a:solidFill>
                <a:latin typeface="Inter"/>
                <a:ea typeface="Inter"/>
                <a:cs typeface="Inter"/>
                <a:sym typeface="Inter"/>
              </a:defRPr>
            </a:lvl2pPr>
            <a:lvl3pPr lvl="2">
              <a:buNone/>
              <a:defRPr>
                <a:solidFill>
                  <a:schemeClr val="accent1"/>
                </a:solidFill>
                <a:latin typeface="Inter"/>
                <a:ea typeface="Inter"/>
                <a:cs typeface="Inter"/>
                <a:sym typeface="Inter"/>
              </a:defRPr>
            </a:lvl3pPr>
            <a:lvl4pPr lvl="3">
              <a:buNone/>
              <a:defRPr>
                <a:solidFill>
                  <a:schemeClr val="accent1"/>
                </a:solidFill>
                <a:latin typeface="Inter"/>
                <a:ea typeface="Inter"/>
                <a:cs typeface="Inter"/>
                <a:sym typeface="Inter"/>
              </a:defRPr>
            </a:lvl4pPr>
            <a:lvl5pPr lvl="4">
              <a:buNone/>
              <a:defRPr>
                <a:solidFill>
                  <a:schemeClr val="accent1"/>
                </a:solidFill>
                <a:latin typeface="Inter"/>
                <a:ea typeface="Inter"/>
                <a:cs typeface="Inter"/>
                <a:sym typeface="Inter"/>
              </a:defRPr>
            </a:lvl5pPr>
            <a:lvl6pPr lvl="5">
              <a:buNone/>
              <a:defRPr>
                <a:solidFill>
                  <a:schemeClr val="accent1"/>
                </a:solidFill>
                <a:latin typeface="Inter"/>
                <a:ea typeface="Inter"/>
                <a:cs typeface="Inter"/>
                <a:sym typeface="Inter"/>
              </a:defRPr>
            </a:lvl6pPr>
            <a:lvl7pPr lvl="6">
              <a:buNone/>
              <a:defRPr>
                <a:solidFill>
                  <a:schemeClr val="accent1"/>
                </a:solidFill>
                <a:latin typeface="Inter"/>
                <a:ea typeface="Inter"/>
                <a:cs typeface="Inter"/>
                <a:sym typeface="Inter"/>
              </a:defRPr>
            </a:lvl7pPr>
            <a:lvl8pPr lvl="7">
              <a:buNone/>
              <a:defRPr>
                <a:solidFill>
                  <a:schemeClr val="accent1"/>
                </a:solidFill>
                <a:latin typeface="Inter"/>
                <a:ea typeface="Inter"/>
                <a:cs typeface="Inter"/>
                <a:sym typeface="Inter"/>
              </a:defRPr>
            </a:lvl8pPr>
            <a:lvl9pPr lvl="8">
              <a:buNone/>
              <a:defRPr>
                <a:solidFill>
                  <a:schemeClr val="accen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713225" y="1412150"/>
            <a:ext cx="7717500" cy="1657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9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713400" y="3069625"/>
            <a:ext cx="7717500" cy="6615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sz="1400">
                <a:solidFill>
                  <a:schemeClr val="dk1"/>
                </a:solidFill>
              </a:defRPr>
            </a:lvl1pPr>
            <a:lvl2pPr indent="-317500" lvl="1" marL="914400" algn="ctr">
              <a:spcBef>
                <a:spcPts val="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p:nvPr/>
        </p:nvSpPr>
        <p:spPr>
          <a:xfrm flipH="1"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p:nvPr/>
        </p:nvSpPr>
        <p:spPr>
          <a:xfrm flipH="1" rot="10800000">
            <a:off x="7927800"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68" name="Shape 68"/>
        <p:cNvGrpSpPr/>
        <p:nvPr/>
      </p:nvGrpSpPr>
      <p:grpSpPr>
        <a:xfrm>
          <a:off x="0" y="0"/>
          <a:ext cx="0" cy="0"/>
          <a:chOff x="0" y="0"/>
          <a:chExt cx="0" cy="0"/>
        </a:xfrm>
      </p:grpSpPr>
      <p:sp>
        <p:nvSpPr>
          <p:cNvPr id="69" name="Google Shape;69;p13"/>
          <p:cNvSpPr txBox="1"/>
          <p:nvPr>
            <p:ph type="title"/>
          </p:nvPr>
        </p:nvSpPr>
        <p:spPr>
          <a:xfrm>
            <a:off x="2683950" y="3273525"/>
            <a:ext cx="57573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b="1" sz="1800">
                <a:solidFill>
                  <a:schemeClr val="accent1"/>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3"/>
          <p:cNvSpPr txBox="1"/>
          <p:nvPr>
            <p:ph idx="1" type="subTitle"/>
          </p:nvPr>
        </p:nvSpPr>
        <p:spPr>
          <a:xfrm flipH="1">
            <a:off x="2684000" y="1247225"/>
            <a:ext cx="5757300" cy="1855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Font typeface="Didact Gothic"/>
              <a:buNone/>
              <a:defRPr sz="2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 name="Google Shape;71;p13"/>
          <p:cNvSpPr/>
          <p:nvPr/>
        </p:nvSpPr>
        <p:spPr>
          <a:xfrm flipH="1" rot="10800000">
            <a:off x="1216200" y="2571750"/>
            <a:ext cx="12162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flipH="1" rot="10800000">
            <a:off x="0" y="1061825"/>
            <a:ext cx="1216200" cy="150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74" name="Shape 74"/>
        <p:cNvGrpSpPr/>
        <p:nvPr/>
      </p:nvGrpSpPr>
      <p:grpSpPr>
        <a:xfrm>
          <a:off x="0" y="0"/>
          <a:ext cx="0" cy="0"/>
          <a:chOff x="0" y="0"/>
          <a:chExt cx="0" cy="0"/>
        </a:xfrm>
      </p:grpSpPr>
      <p:sp>
        <p:nvSpPr>
          <p:cNvPr id="75" name="Google Shape;75;p14"/>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p:txBody>
      </p:sp>
      <p:sp>
        <p:nvSpPr>
          <p:cNvPr id="76" name="Google Shape;76;p14"/>
          <p:cNvSpPr txBox="1"/>
          <p:nvPr>
            <p:ph idx="2" type="ctrTitle"/>
          </p:nvPr>
        </p:nvSpPr>
        <p:spPr>
          <a:xfrm>
            <a:off x="2310350" y="1446813"/>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77" name="Google Shape;77;p14"/>
          <p:cNvSpPr txBox="1"/>
          <p:nvPr>
            <p:ph hasCustomPrompt="1" idx="3" type="title"/>
          </p:nvPr>
        </p:nvSpPr>
        <p:spPr>
          <a:xfrm>
            <a:off x="717800" y="1521025"/>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dk2"/>
              </a:buClr>
              <a:buSzPts val="8000"/>
              <a:buNone/>
              <a:defRPr sz="7000">
                <a:solidFill>
                  <a:schemeClr val="dk2"/>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78" name="Google Shape;78;p14"/>
          <p:cNvSpPr txBox="1"/>
          <p:nvPr>
            <p:ph idx="1" type="subTitle"/>
          </p:nvPr>
        </p:nvSpPr>
        <p:spPr>
          <a:xfrm>
            <a:off x="2310350" y="185887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79" name="Google Shape;79;p14"/>
          <p:cNvSpPr txBox="1"/>
          <p:nvPr>
            <p:ph idx="4" type="ctrTitle"/>
          </p:nvPr>
        </p:nvSpPr>
        <p:spPr>
          <a:xfrm>
            <a:off x="6233050" y="1446813"/>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80" name="Google Shape;80;p14"/>
          <p:cNvSpPr txBox="1"/>
          <p:nvPr>
            <p:ph hasCustomPrompt="1" idx="5" type="title"/>
          </p:nvPr>
        </p:nvSpPr>
        <p:spPr>
          <a:xfrm>
            <a:off x="4686400" y="1521025"/>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dk2"/>
              </a:buClr>
              <a:buSzPts val="8000"/>
              <a:buNone/>
              <a:defRPr sz="7000">
                <a:solidFill>
                  <a:schemeClr val="dk2"/>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81" name="Google Shape;81;p14"/>
          <p:cNvSpPr txBox="1"/>
          <p:nvPr>
            <p:ph idx="6" type="subTitle"/>
          </p:nvPr>
        </p:nvSpPr>
        <p:spPr>
          <a:xfrm>
            <a:off x="6275800" y="1858878"/>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82" name="Google Shape;82;p14"/>
          <p:cNvSpPr txBox="1"/>
          <p:nvPr>
            <p:ph idx="7" type="ctrTitle"/>
          </p:nvPr>
        </p:nvSpPr>
        <p:spPr>
          <a:xfrm>
            <a:off x="2310350" y="2868777"/>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83" name="Google Shape;83;p14"/>
          <p:cNvSpPr txBox="1"/>
          <p:nvPr>
            <p:ph hasCustomPrompt="1" idx="8" type="title"/>
          </p:nvPr>
        </p:nvSpPr>
        <p:spPr>
          <a:xfrm>
            <a:off x="717800" y="2960450"/>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dk2"/>
              </a:buClr>
              <a:buSzPts val="8000"/>
              <a:buNone/>
              <a:defRPr sz="7000">
                <a:solidFill>
                  <a:schemeClr val="dk2"/>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84" name="Google Shape;84;p14"/>
          <p:cNvSpPr txBox="1"/>
          <p:nvPr>
            <p:ph idx="9" type="subTitle"/>
          </p:nvPr>
        </p:nvSpPr>
        <p:spPr>
          <a:xfrm>
            <a:off x="2310350" y="329832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85" name="Google Shape;85;p14"/>
          <p:cNvSpPr txBox="1"/>
          <p:nvPr>
            <p:ph idx="13" type="ctrTitle"/>
          </p:nvPr>
        </p:nvSpPr>
        <p:spPr>
          <a:xfrm>
            <a:off x="6275650" y="2868775"/>
            <a:ext cx="21504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p:txBody>
      </p:sp>
      <p:sp>
        <p:nvSpPr>
          <p:cNvPr id="86" name="Google Shape;86;p14"/>
          <p:cNvSpPr txBox="1"/>
          <p:nvPr>
            <p:ph hasCustomPrompt="1" idx="14" type="title"/>
          </p:nvPr>
        </p:nvSpPr>
        <p:spPr>
          <a:xfrm>
            <a:off x="4686400" y="2960450"/>
            <a:ext cx="1493400" cy="9417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dk2"/>
              </a:buClr>
              <a:buSzPts val="8000"/>
              <a:buNone/>
              <a:defRPr sz="7000">
                <a:solidFill>
                  <a:schemeClr val="dk2"/>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87" name="Google Shape;87;p14"/>
          <p:cNvSpPr txBox="1"/>
          <p:nvPr>
            <p:ph idx="15" type="subTitle"/>
          </p:nvPr>
        </p:nvSpPr>
        <p:spPr>
          <a:xfrm>
            <a:off x="6275800" y="3298325"/>
            <a:ext cx="2150400" cy="767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p:txBody>
      </p:sp>
      <p:sp>
        <p:nvSpPr>
          <p:cNvPr id="88" name="Google Shape;88;p14"/>
          <p:cNvSpPr/>
          <p:nvPr/>
        </p:nvSpPr>
        <p:spPr>
          <a:xfrm>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
    <p:spTree>
      <p:nvGrpSpPr>
        <p:cNvPr id="91" name="Shape 91"/>
        <p:cNvGrpSpPr/>
        <p:nvPr/>
      </p:nvGrpSpPr>
      <p:grpSpPr>
        <a:xfrm>
          <a:off x="0" y="0"/>
          <a:ext cx="0" cy="0"/>
          <a:chOff x="0" y="0"/>
          <a:chExt cx="0" cy="0"/>
        </a:xfrm>
      </p:grpSpPr>
      <p:sp>
        <p:nvSpPr>
          <p:cNvPr id="92" name="Google Shape;92;p15"/>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93" name="Google Shape;93;p15"/>
          <p:cNvSpPr txBox="1"/>
          <p:nvPr>
            <p:ph idx="1" type="subTitle"/>
          </p:nvPr>
        </p:nvSpPr>
        <p:spPr>
          <a:xfrm>
            <a:off x="1454225" y="33913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94" name="Google Shape;94;p15"/>
          <p:cNvSpPr txBox="1"/>
          <p:nvPr>
            <p:ph idx="2" type="subTitle"/>
          </p:nvPr>
        </p:nvSpPr>
        <p:spPr>
          <a:xfrm>
            <a:off x="1454225" y="37667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95" name="Google Shape;95;p15"/>
          <p:cNvSpPr txBox="1"/>
          <p:nvPr>
            <p:ph idx="3" type="subTitle"/>
          </p:nvPr>
        </p:nvSpPr>
        <p:spPr>
          <a:xfrm>
            <a:off x="5427875" y="33913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96" name="Google Shape;96;p15"/>
          <p:cNvSpPr txBox="1"/>
          <p:nvPr>
            <p:ph idx="4" type="subTitle"/>
          </p:nvPr>
        </p:nvSpPr>
        <p:spPr>
          <a:xfrm>
            <a:off x="5427875" y="37667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97" name="Google Shape;97;p15"/>
          <p:cNvSpPr/>
          <p:nvPr/>
        </p:nvSpPr>
        <p:spPr>
          <a:xfrm rot="5400000">
            <a:off x="-2131350" y="2050000"/>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5">
    <p:spTree>
      <p:nvGrpSpPr>
        <p:cNvPr id="99" name="Shape 99"/>
        <p:cNvGrpSpPr/>
        <p:nvPr/>
      </p:nvGrpSpPr>
      <p:grpSpPr>
        <a:xfrm>
          <a:off x="0" y="0"/>
          <a:ext cx="0" cy="0"/>
          <a:chOff x="0" y="0"/>
          <a:chExt cx="0" cy="0"/>
        </a:xfrm>
      </p:grpSpPr>
      <p:sp>
        <p:nvSpPr>
          <p:cNvPr id="100" name="Google Shape;100;p16"/>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01" name="Google Shape;101;p16"/>
          <p:cNvSpPr txBox="1"/>
          <p:nvPr>
            <p:ph idx="1" type="subTitle"/>
          </p:nvPr>
        </p:nvSpPr>
        <p:spPr>
          <a:xfrm>
            <a:off x="1098800" y="3775200"/>
            <a:ext cx="28131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02" name="Google Shape;102;p16"/>
          <p:cNvSpPr txBox="1"/>
          <p:nvPr>
            <p:ph idx="2" type="subTitle"/>
          </p:nvPr>
        </p:nvSpPr>
        <p:spPr>
          <a:xfrm>
            <a:off x="1098800" y="3051300"/>
            <a:ext cx="28131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03" name="Google Shape;103;p16"/>
          <p:cNvSpPr txBox="1"/>
          <p:nvPr>
            <p:ph idx="3" type="subTitle"/>
          </p:nvPr>
        </p:nvSpPr>
        <p:spPr>
          <a:xfrm>
            <a:off x="1098800" y="2315550"/>
            <a:ext cx="28131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04" name="Google Shape;104;p16"/>
          <p:cNvSpPr txBox="1"/>
          <p:nvPr>
            <p:ph idx="4" type="subTitle"/>
          </p:nvPr>
        </p:nvSpPr>
        <p:spPr>
          <a:xfrm>
            <a:off x="1098800" y="1591650"/>
            <a:ext cx="28131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05" name="Google Shape;105;p16"/>
          <p:cNvSpPr/>
          <p:nvPr/>
        </p:nvSpPr>
        <p:spPr>
          <a:xfrm flipH="1" rot="10800000">
            <a:off x="5416200" y="1010100"/>
            <a:ext cx="1216200" cy="15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flipH="1" rot="10800000">
            <a:off x="6632400" y="2571600"/>
            <a:ext cx="1216200" cy="2571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08" name="Shape 108"/>
        <p:cNvGrpSpPr/>
        <p:nvPr/>
      </p:nvGrpSpPr>
      <p:grpSpPr>
        <a:xfrm>
          <a:off x="0" y="0"/>
          <a:ext cx="0" cy="0"/>
          <a:chOff x="0" y="0"/>
          <a:chExt cx="0" cy="0"/>
        </a:xfrm>
      </p:grpSpPr>
      <p:sp>
        <p:nvSpPr>
          <p:cNvPr id="109" name="Google Shape;109;p17"/>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10" name="Google Shape;110;p17"/>
          <p:cNvSpPr txBox="1"/>
          <p:nvPr>
            <p:ph idx="1" type="subTitle"/>
          </p:nvPr>
        </p:nvSpPr>
        <p:spPr>
          <a:xfrm>
            <a:off x="78810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11" name="Google Shape;111;p17"/>
          <p:cNvSpPr txBox="1"/>
          <p:nvPr>
            <p:ph idx="2" type="subTitle"/>
          </p:nvPr>
        </p:nvSpPr>
        <p:spPr>
          <a:xfrm>
            <a:off x="78810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12" name="Google Shape;112;p17"/>
          <p:cNvSpPr txBox="1"/>
          <p:nvPr>
            <p:ph idx="3" type="subTitle"/>
          </p:nvPr>
        </p:nvSpPr>
        <p:spPr>
          <a:xfrm>
            <a:off x="344115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13" name="Google Shape;113;p17"/>
          <p:cNvSpPr txBox="1"/>
          <p:nvPr>
            <p:ph idx="4" type="subTitle"/>
          </p:nvPr>
        </p:nvSpPr>
        <p:spPr>
          <a:xfrm>
            <a:off x="344115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14" name="Google Shape;114;p17"/>
          <p:cNvSpPr txBox="1"/>
          <p:nvPr>
            <p:ph idx="5" type="subTitle"/>
          </p:nvPr>
        </p:nvSpPr>
        <p:spPr>
          <a:xfrm>
            <a:off x="6094200" y="2390400"/>
            <a:ext cx="2261700" cy="408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solidFill>
                  <a:schemeClr val="accent1"/>
                </a:solidFill>
              </a:defRPr>
            </a:lvl1pPr>
            <a:lvl2pPr lvl="1" rtl="0" algn="ctr">
              <a:spcBef>
                <a:spcPts val="1600"/>
              </a:spcBef>
              <a:spcAft>
                <a:spcPts val="0"/>
              </a:spcAft>
              <a:buNone/>
              <a:defRPr b="1">
                <a:solidFill>
                  <a:schemeClr val="accent1"/>
                </a:solidFill>
              </a:defRPr>
            </a:lvl2pPr>
            <a:lvl3pPr lvl="2" rtl="0" algn="ctr">
              <a:spcBef>
                <a:spcPts val="1600"/>
              </a:spcBef>
              <a:spcAft>
                <a:spcPts val="0"/>
              </a:spcAft>
              <a:buNone/>
              <a:defRPr b="1">
                <a:solidFill>
                  <a:schemeClr val="accent1"/>
                </a:solidFill>
              </a:defRPr>
            </a:lvl3pPr>
            <a:lvl4pPr lvl="3" rtl="0" algn="ctr">
              <a:spcBef>
                <a:spcPts val="1600"/>
              </a:spcBef>
              <a:spcAft>
                <a:spcPts val="0"/>
              </a:spcAft>
              <a:buNone/>
              <a:defRPr b="1">
                <a:solidFill>
                  <a:schemeClr val="accent1"/>
                </a:solidFill>
              </a:defRPr>
            </a:lvl4pPr>
            <a:lvl5pPr lvl="4" rtl="0" algn="ctr">
              <a:spcBef>
                <a:spcPts val="1600"/>
              </a:spcBef>
              <a:spcAft>
                <a:spcPts val="0"/>
              </a:spcAft>
              <a:buNone/>
              <a:defRPr b="1">
                <a:solidFill>
                  <a:schemeClr val="accent1"/>
                </a:solidFill>
              </a:defRPr>
            </a:lvl5pPr>
            <a:lvl6pPr lvl="5" rtl="0" algn="ctr">
              <a:spcBef>
                <a:spcPts val="1600"/>
              </a:spcBef>
              <a:spcAft>
                <a:spcPts val="0"/>
              </a:spcAft>
              <a:buNone/>
              <a:defRPr b="1">
                <a:solidFill>
                  <a:schemeClr val="accent1"/>
                </a:solidFill>
              </a:defRPr>
            </a:lvl6pPr>
            <a:lvl7pPr lvl="6" rtl="0" algn="ctr">
              <a:spcBef>
                <a:spcPts val="1600"/>
              </a:spcBef>
              <a:spcAft>
                <a:spcPts val="0"/>
              </a:spcAft>
              <a:buNone/>
              <a:defRPr b="1">
                <a:solidFill>
                  <a:schemeClr val="accent1"/>
                </a:solidFill>
              </a:defRPr>
            </a:lvl7pPr>
            <a:lvl8pPr lvl="7" rtl="0" algn="ctr">
              <a:spcBef>
                <a:spcPts val="1600"/>
              </a:spcBef>
              <a:spcAft>
                <a:spcPts val="0"/>
              </a:spcAft>
              <a:buNone/>
              <a:defRPr b="1">
                <a:solidFill>
                  <a:schemeClr val="accent1"/>
                </a:solidFill>
              </a:defRPr>
            </a:lvl8pPr>
            <a:lvl9pPr lvl="8" rtl="0" algn="ctr">
              <a:spcBef>
                <a:spcPts val="1600"/>
              </a:spcBef>
              <a:spcAft>
                <a:spcPts val="1600"/>
              </a:spcAft>
              <a:buNone/>
              <a:defRPr b="1">
                <a:solidFill>
                  <a:schemeClr val="accent1"/>
                </a:solidFill>
              </a:defRPr>
            </a:lvl9pPr>
          </a:lstStyle>
          <a:p/>
        </p:txBody>
      </p:sp>
      <p:sp>
        <p:nvSpPr>
          <p:cNvPr id="115" name="Google Shape;115;p17"/>
          <p:cNvSpPr txBox="1"/>
          <p:nvPr>
            <p:ph idx="6" type="subTitle"/>
          </p:nvPr>
        </p:nvSpPr>
        <p:spPr>
          <a:xfrm>
            <a:off x="6094200" y="2765850"/>
            <a:ext cx="2261700" cy="72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1600"/>
              </a:spcBef>
              <a:spcAft>
                <a:spcPts val="0"/>
              </a:spcAft>
              <a:buNone/>
              <a:defRPr sz="1400">
                <a:solidFill>
                  <a:schemeClr val="dk1"/>
                </a:solidFill>
              </a:defRPr>
            </a:lvl2pPr>
            <a:lvl3pPr lvl="2" rtl="0" algn="ctr">
              <a:lnSpc>
                <a:spcPct val="100000"/>
              </a:lnSpc>
              <a:spcBef>
                <a:spcPts val="1600"/>
              </a:spcBef>
              <a:spcAft>
                <a:spcPts val="0"/>
              </a:spcAft>
              <a:buNone/>
              <a:defRPr sz="1400">
                <a:solidFill>
                  <a:schemeClr val="dk1"/>
                </a:solidFill>
              </a:defRPr>
            </a:lvl3pPr>
            <a:lvl4pPr lvl="3" rtl="0" algn="ctr">
              <a:lnSpc>
                <a:spcPct val="100000"/>
              </a:lnSpc>
              <a:spcBef>
                <a:spcPts val="1600"/>
              </a:spcBef>
              <a:spcAft>
                <a:spcPts val="0"/>
              </a:spcAft>
              <a:buNone/>
              <a:defRPr sz="1400">
                <a:solidFill>
                  <a:schemeClr val="dk1"/>
                </a:solidFill>
              </a:defRPr>
            </a:lvl4pPr>
            <a:lvl5pPr lvl="4" rtl="0" algn="ctr">
              <a:lnSpc>
                <a:spcPct val="100000"/>
              </a:lnSpc>
              <a:spcBef>
                <a:spcPts val="1600"/>
              </a:spcBef>
              <a:spcAft>
                <a:spcPts val="0"/>
              </a:spcAft>
              <a:buNone/>
              <a:defRPr sz="1400">
                <a:solidFill>
                  <a:schemeClr val="dk1"/>
                </a:solidFill>
              </a:defRPr>
            </a:lvl5pPr>
            <a:lvl6pPr lvl="5" rtl="0" algn="ctr">
              <a:lnSpc>
                <a:spcPct val="100000"/>
              </a:lnSpc>
              <a:spcBef>
                <a:spcPts val="1600"/>
              </a:spcBef>
              <a:spcAft>
                <a:spcPts val="0"/>
              </a:spcAft>
              <a:buNone/>
              <a:defRPr sz="1400">
                <a:solidFill>
                  <a:schemeClr val="dk1"/>
                </a:solidFill>
              </a:defRPr>
            </a:lvl6pPr>
            <a:lvl7pPr lvl="6" rtl="0" algn="ctr">
              <a:lnSpc>
                <a:spcPct val="100000"/>
              </a:lnSpc>
              <a:spcBef>
                <a:spcPts val="1600"/>
              </a:spcBef>
              <a:spcAft>
                <a:spcPts val="0"/>
              </a:spcAft>
              <a:buNone/>
              <a:defRPr sz="1400">
                <a:solidFill>
                  <a:schemeClr val="dk1"/>
                </a:solidFill>
              </a:defRPr>
            </a:lvl7pPr>
            <a:lvl8pPr lvl="7" rtl="0" algn="ctr">
              <a:lnSpc>
                <a:spcPct val="100000"/>
              </a:lnSpc>
              <a:spcBef>
                <a:spcPts val="1600"/>
              </a:spcBef>
              <a:spcAft>
                <a:spcPts val="0"/>
              </a:spcAft>
              <a:buNone/>
              <a:defRPr sz="1400">
                <a:solidFill>
                  <a:schemeClr val="dk1"/>
                </a:solidFill>
              </a:defRPr>
            </a:lvl8pPr>
            <a:lvl9pPr lvl="8" rtl="0" algn="ctr">
              <a:lnSpc>
                <a:spcPct val="100000"/>
              </a:lnSpc>
              <a:spcBef>
                <a:spcPts val="1600"/>
              </a:spcBef>
              <a:spcAft>
                <a:spcPts val="1600"/>
              </a:spcAft>
              <a:buNone/>
              <a:defRPr sz="1400">
                <a:solidFill>
                  <a:schemeClr val="dk1"/>
                </a:solidFill>
              </a:defRPr>
            </a:lvl9pPr>
          </a:lstStyle>
          <a:p/>
        </p:txBody>
      </p:sp>
      <p:sp>
        <p:nvSpPr>
          <p:cNvPr id="116" name="Google Shape;116;p17"/>
          <p:cNvSpPr/>
          <p:nvPr/>
        </p:nvSpPr>
        <p:spPr>
          <a:xfrm flipH="1">
            <a:off x="457200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flipH="1">
            <a:off x="5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p:cSld name="CUSTOM_3">
    <p:spTree>
      <p:nvGrpSpPr>
        <p:cNvPr id="119" name="Shape 119"/>
        <p:cNvGrpSpPr/>
        <p:nvPr/>
      </p:nvGrpSpPr>
      <p:grpSpPr>
        <a:xfrm>
          <a:off x="0" y="0"/>
          <a:ext cx="0" cy="0"/>
          <a:chOff x="0" y="0"/>
          <a:chExt cx="0" cy="0"/>
        </a:xfrm>
      </p:grpSpPr>
      <p:sp>
        <p:nvSpPr>
          <p:cNvPr id="120" name="Google Shape;120;p18"/>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21" name="Google Shape;121;p18"/>
          <p:cNvSpPr txBox="1"/>
          <p:nvPr>
            <p:ph idx="1" type="subTitle"/>
          </p:nvPr>
        </p:nvSpPr>
        <p:spPr>
          <a:xfrm>
            <a:off x="1878275" y="1251675"/>
            <a:ext cx="2787600" cy="423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22" name="Google Shape;122;p18"/>
          <p:cNvSpPr txBox="1"/>
          <p:nvPr>
            <p:ph idx="2" type="subTitle"/>
          </p:nvPr>
        </p:nvSpPr>
        <p:spPr>
          <a:xfrm>
            <a:off x="1878275" y="1744345"/>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23" name="Google Shape;123;p18"/>
          <p:cNvSpPr txBox="1"/>
          <p:nvPr>
            <p:ph idx="3" type="subTitle"/>
          </p:nvPr>
        </p:nvSpPr>
        <p:spPr>
          <a:xfrm>
            <a:off x="5351497" y="1251675"/>
            <a:ext cx="2787600" cy="423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24" name="Google Shape;124;p18"/>
          <p:cNvSpPr txBox="1"/>
          <p:nvPr>
            <p:ph idx="4" type="subTitle"/>
          </p:nvPr>
        </p:nvSpPr>
        <p:spPr>
          <a:xfrm>
            <a:off x="5351493" y="1744282"/>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25" name="Google Shape;125;p18"/>
          <p:cNvSpPr txBox="1"/>
          <p:nvPr>
            <p:ph idx="5" type="subTitle"/>
          </p:nvPr>
        </p:nvSpPr>
        <p:spPr>
          <a:xfrm>
            <a:off x="1878275" y="2898148"/>
            <a:ext cx="2787600" cy="3402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26" name="Google Shape;126;p18"/>
          <p:cNvSpPr txBox="1"/>
          <p:nvPr>
            <p:ph idx="6" type="subTitle"/>
          </p:nvPr>
        </p:nvSpPr>
        <p:spPr>
          <a:xfrm>
            <a:off x="1878275" y="3390754"/>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27" name="Google Shape;127;p18"/>
          <p:cNvSpPr txBox="1"/>
          <p:nvPr>
            <p:ph idx="7" type="subTitle"/>
          </p:nvPr>
        </p:nvSpPr>
        <p:spPr>
          <a:xfrm>
            <a:off x="5351425" y="2898156"/>
            <a:ext cx="2787600" cy="3402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p:txBody>
      </p:sp>
      <p:sp>
        <p:nvSpPr>
          <p:cNvPr id="128" name="Google Shape;128;p18"/>
          <p:cNvSpPr txBox="1"/>
          <p:nvPr>
            <p:ph idx="8" type="subTitle"/>
          </p:nvPr>
        </p:nvSpPr>
        <p:spPr>
          <a:xfrm>
            <a:off x="5351425" y="3390754"/>
            <a:ext cx="2787600" cy="8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29" name="Google Shape;129;p18"/>
          <p:cNvSpPr txBox="1"/>
          <p:nvPr>
            <p:ph idx="9" type="subTitle"/>
          </p:nvPr>
        </p:nvSpPr>
        <p:spPr>
          <a:xfrm rot="-5400803">
            <a:off x="609009" y="1779468"/>
            <a:ext cx="1284300" cy="4926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None/>
              <a:defRPr b="1">
                <a:solidFill>
                  <a:schemeClr val="lt1"/>
                </a:solidFill>
              </a:defRPr>
            </a:lvl1pPr>
            <a:lvl2pPr lvl="1">
              <a:spcBef>
                <a:spcPts val="1600"/>
              </a:spcBef>
              <a:spcAft>
                <a:spcPts val="0"/>
              </a:spcAft>
              <a:buSzPts val="1400"/>
              <a:buNone/>
              <a:defRPr b="1"/>
            </a:lvl2pPr>
            <a:lvl3pPr lvl="2">
              <a:spcBef>
                <a:spcPts val="1600"/>
              </a:spcBef>
              <a:spcAft>
                <a:spcPts val="0"/>
              </a:spcAft>
              <a:buSzPts val="1400"/>
              <a:buNone/>
              <a:defRPr b="1"/>
            </a:lvl3pPr>
            <a:lvl4pPr lvl="3">
              <a:spcBef>
                <a:spcPts val="1600"/>
              </a:spcBef>
              <a:spcAft>
                <a:spcPts val="0"/>
              </a:spcAft>
              <a:buSzPts val="1400"/>
              <a:buNone/>
              <a:defRPr b="1"/>
            </a:lvl4pPr>
            <a:lvl5pPr lvl="4">
              <a:spcBef>
                <a:spcPts val="1600"/>
              </a:spcBef>
              <a:spcAft>
                <a:spcPts val="0"/>
              </a:spcAft>
              <a:buSzPts val="1400"/>
              <a:buNone/>
              <a:defRPr b="1"/>
            </a:lvl5pPr>
            <a:lvl6pPr lvl="5">
              <a:spcBef>
                <a:spcPts val="1600"/>
              </a:spcBef>
              <a:spcAft>
                <a:spcPts val="0"/>
              </a:spcAft>
              <a:buSzPts val="1400"/>
              <a:buNone/>
              <a:defRPr b="1"/>
            </a:lvl6pPr>
            <a:lvl7pPr lvl="6">
              <a:spcBef>
                <a:spcPts val="1600"/>
              </a:spcBef>
              <a:spcAft>
                <a:spcPts val="0"/>
              </a:spcAft>
              <a:buSzPts val="1400"/>
              <a:buNone/>
              <a:defRPr b="1"/>
            </a:lvl7pPr>
            <a:lvl8pPr lvl="7">
              <a:spcBef>
                <a:spcPts val="1600"/>
              </a:spcBef>
              <a:spcAft>
                <a:spcPts val="0"/>
              </a:spcAft>
              <a:buSzPts val="1400"/>
              <a:buNone/>
              <a:defRPr b="1"/>
            </a:lvl8pPr>
            <a:lvl9pPr lvl="8">
              <a:spcBef>
                <a:spcPts val="1600"/>
              </a:spcBef>
              <a:spcAft>
                <a:spcPts val="1600"/>
              </a:spcAft>
              <a:buSzPts val="1400"/>
              <a:buNone/>
              <a:defRPr b="1"/>
            </a:lvl9pPr>
          </a:lstStyle>
          <a:p/>
        </p:txBody>
      </p:sp>
      <p:sp>
        <p:nvSpPr>
          <p:cNvPr id="130" name="Google Shape;130;p18"/>
          <p:cNvSpPr txBox="1"/>
          <p:nvPr>
            <p:ph idx="13" type="subTitle"/>
          </p:nvPr>
        </p:nvSpPr>
        <p:spPr>
          <a:xfrm rot="-5400000">
            <a:off x="609075" y="3422400"/>
            <a:ext cx="1284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None/>
              <a:defRPr b="1">
                <a:solidFill>
                  <a:schemeClr val="lt1"/>
                </a:solidFill>
              </a:defRPr>
            </a:lvl1pPr>
            <a:lvl2pPr lvl="1" rtl="0">
              <a:spcBef>
                <a:spcPts val="1600"/>
              </a:spcBef>
              <a:spcAft>
                <a:spcPts val="0"/>
              </a:spcAft>
              <a:buSzPts val="1400"/>
              <a:buNone/>
              <a:defRPr b="1"/>
            </a:lvl2pPr>
            <a:lvl3pPr lvl="2" rtl="0">
              <a:spcBef>
                <a:spcPts val="1600"/>
              </a:spcBef>
              <a:spcAft>
                <a:spcPts val="0"/>
              </a:spcAft>
              <a:buSzPts val="1400"/>
              <a:buNone/>
              <a:defRPr b="1"/>
            </a:lvl3pPr>
            <a:lvl4pPr lvl="3" rtl="0">
              <a:spcBef>
                <a:spcPts val="1600"/>
              </a:spcBef>
              <a:spcAft>
                <a:spcPts val="0"/>
              </a:spcAft>
              <a:buSzPts val="1400"/>
              <a:buNone/>
              <a:defRPr b="1"/>
            </a:lvl4pPr>
            <a:lvl5pPr lvl="4" rtl="0">
              <a:spcBef>
                <a:spcPts val="1600"/>
              </a:spcBef>
              <a:spcAft>
                <a:spcPts val="0"/>
              </a:spcAft>
              <a:buSzPts val="1400"/>
              <a:buNone/>
              <a:defRPr b="1"/>
            </a:lvl5pPr>
            <a:lvl6pPr lvl="5" rtl="0">
              <a:spcBef>
                <a:spcPts val="1600"/>
              </a:spcBef>
              <a:spcAft>
                <a:spcPts val="0"/>
              </a:spcAft>
              <a:buSzPts val="1400"/>
              <a:buNone/>
              <a:defRPr b="1"/>
            </a:lvl6pPr>
            <a:lvl7pPr lvl="6" rtl="0">
              <a:spcBef>
                <a:spcPts val="1600"/>
              </a:spcBef>
              <a:spcAft>
                <a:spcPts val="0"/>
              </a:spcAft>
              <a:buSzPts val="1400"/>
              <a:buNone/>
              <a:defRPr b="1"/>
            </a:lvl7pPr>
            <a:lvl8pPr lvl="7" rtl="0">
              <a:spcBef>
                <a:spcPts val="1600"/>
              </a:spcBef>
              <a:spcAft>
                <a:spcPts val="0"/>
              </a:spcAft>
              <a:buSzPts val="1400"/>
              <a:buNone/>
              <a:defRPr b="1"/>
            </a:lvl8pPr>
            <a:lvl9pPr lvl="8" rtl="0">
              <a:spcBef>
                <a:spcPts val="1600"/>
              </a:spcBef>
              <a:spcAft>
                <a:spcPts val="1600"/>
              </a:spcAft>
              <a:buSzPts val="1400"/>
              <a:buNone/>
              <a:defRPr b="1"/>
            </a:lvl9pPr>
          </a:lstStyle>
          <a:p/>
        </p:txBody>
      </p:sp>
      <p:sp>
        <p:nvSpPr>
          <p:cNvPr id="131" name="Google Shape;131;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4">
    <p:spTree>
      <p:nvGrpSpPr>
        <p:cNvPr id="132" name="Shape 132"/>
        <p:cNvGrpSpPr/>
        <p:nvPr/>
      </p:nvGrpSpPr>
      <p:grpSpPr>
        <a:xfrm>
          <a:off x="0" y="0"/>
          <a:ext cx="0" cy="0"/>
          <a:chOff x="0" y="0"/>
          <a:chExt cx="0" cy="0"/>
        </a:xfrm>
      </p:grpSpPr>
      <p:sp>
        <p:nvSpPr>
          <p:cNvPr id="133" name="Google Shape;133;p19"/>
          <p:cNvSpPr txBox="1"/>
          <p:nvPr>
            <p:ph idx="1" type="subTitle"/>
          </p:nvPr>
        </p:nvSpPr>
        <p:spPr>
          <a:xfrm>
            <a:off x="5951340" y="1570850"/>
            <a:ext cx="2479500" cy="4239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34" name="Google Shape;134;p19"/>
          <p:cNvSpPr txBox="1"/>
          <p:nvPr>
            <p:ph idx="2" type="subTitle"/>
          </p:nvPr>
        </p:nvSpPr>
        <p:spPr>
          <a:xfrm>
            <a:off x="5951336" y="1941975"/>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1600"/>
              </a:spcBef>
              <a:spcAft>
                <a:spcPts val="0"/>
              </a:spcAft>
              <a:buNone/>
              <a:defRPr sz="1400">
                <a:solidFill>
                  <a:schemeClr val="dk1"/>
                </a:solidFill>
              </a:defRPr>
            </a:lvl2pPr>
            <a:lvl3pPr lvl="2" rtl="0" algn="r">
              <a:lnSpc>
                <a:spcPct val="100000"/>
              </a:lnSpc>
              <a:spcBef>
                <a:spcPts val="1600"/>
              </a:spcBef>
              <a:spcAft>
                <a:spcPts val="0"/>
              </a:spcAft>
              <a:buNone/>
              <a:defRPr sz="1400">
                <a:solidFill>
                  <a:schemeClr val="dk1"/>
                </a:solidFill>
              </a:defRPr>
            </a:lvl3pPr>
            <a:lvl4pPr lvl="3" rtl="0" algn="r">
              <a:lnSpc>
                <a:spcPct val="100000"/>
              </a:lnSpc>
              <a:spcBef>
                <a:spcPts val="1600"/>
              </a:spcBef>
              <a:spcAft>
                <a:spcPts val="0"/>
              </a:spcAft>
              <a:buNone/>
              <a:defRPr sz="1400">
                <a:solidFill>
                  <a:schemeClr val="dk1"/>
                </a:solidFill>
              </a:defRPr>
            </a:lvl4pPr>
            <a:lvl5pPr lvl="4" rtl="0" algn="r">
              <a:lnSpc>
                <a:spcPct val="100000"/>
              </a:lnSpc>
              <a:spcBef>
                <a:spcPts val="1600"/>
              </a:spcBef>
              <a:spcAft>
                <a:spcPts val="0"/>
              </a:spcAft>
              <a:buNone/>
              <a:defRPr sz="1400">
                <a:solidFill>
                  <a:schemeClr val="dk1"/>
                </a:solidFill>
              </a:defRPr>
            </a:lvl5pPr>
            <a:lvl6pPr lvl="5" rtl="0" algn="r">
              <a:lnSpc>
                <a:spcPct val="100000"/>
              </a:lnSpc>
              <a:spcBef>
                <a:spcPts val="1600"/>
              </a:spcBef>
              <a:spcAft>
                <a:spcPts val="0"/>
              </a:spcAft>
              <a:buNone/>
              <a:defRPr sz="1400">
                <a:solidFill>
                  <a:schemeClr val="dk1"/>
                </a:solidFill>
              </a:defRPr>
            </a:lvl6pPr>
            <a:lvl7pPr lvl="6" rtl="0" algn="r">
              <a:lnSpc>
                <a:spcPct val="100000"/>
              </a:lnSpc>
              <a:spcBef>
                <a:spcPts val="1600"/>
              </a:spcBef>
              <a:spcAft>
                <a:spcPts val="0"/>
              </a:spcAft>
              <a:buNone/>
              <a:defRPr sz="1400">
                <a:solidFill>
                  <a:schemeClr val="dk1"/>
                </a:solidFill>
              </a:defRPr>
            </a:lvl7pPr>
            <a:lvl8pPr lvl="7" rtl="0" algn="r">
              <a:lnSpc>
                <a:spcPct val="100000"/>
              </a:lnSpc>
              <a:spcBef>
                <a:spcPts val="1600"/>
              </a:spcBef>
              <a:spcAft>
                <a:spcPts val="0"/>
              </a:spcAft>
              <a:buNone/>
              <a:defRPr sz="1400">
                <a:solidFill>
                  <a:schemeClr val="dk1"/>
                </a:solidFill>
              </a:defRPr>
            </a:lvl8pPr>
            <a:lvl9pPr lvl="8" rtl="0" algn="r">
              <a:lnSpc>
                <a:spcPct val="100000"/>
              </a:lnSpc>
              <a:spcBef>
                <a:spcPts val="1600"/>
              </a:spcBef>
              <a:spcAft>
                <a:spcPts val="1600"/>
              </a:spcAft>
              <a:buNone/>
              <a:defRPr sz="1400">
                <a:solidFill>
                  <a:schemeClr val="dk1"/>
                </a:solidFill>
              </a:defRPr>
            </a:lvl9pPr>
          </a:lstStyle>
          <a:p/>
        </p:txBody>
      </p:sp>
      <p:sp>
        <p:nvSpPr>
          <p:cNvPr id="135" name="Google Shape;135;p19"/>
          <p:cNvSpPr txBox="1"/>
          <p:nvPr>
            <p:ph idx="3" type="subTitle"/>
          </p:nvPr>
        </p:nvSpPr>
        <p:spPr>
          <a:xfrm>
            <a:off x="5951276" y="3064926"/>
            <a:ext cx="2479500" cy="3402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36" name="Google Shape;136;p19"/>
          <p:cNvSpPr txBox="1"/>
          <p:nvPr>
            <p:ph idx="4" type="subTitle"/>
          </p:nvPr>
        </p:nvSpPr>
        <p:spPr>
          <a:xfrm>
            <a:off x="5951276" y="3436049"/>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137" name="Google Shape;137;p19"/>
          <p:cNvSpPr txBox="1"/>
          <p:nvPr>
            <p:ph idx="5" type="subTitle"/>
          </p:nvPr>
        </p:nvSpPr>
        <p:spPr>
          <a:xfrm>
            <a:off x="3156090" y="1570850"/>
            <a:ext cx="2479500" cy="4239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38" name="Google Shape;138;p19"/>
          <p:cNvSpPr txBox="1"/>
          <p:nvPr>
            <p:ph idx="6" type="subTitle"/>
          </p:nvPr>
        </p:nvSpPr>
        <p:spPr>
          <a:xfrm>
            <a:off x="3156036" y="1941975"/>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0"/>
              </a:spcBef>
              <a:spcAft>
                <a:spcPts val="0"/>
              </a:spcAft>
              <a:buNone/>
              <a:defRPr sz="1400">
                <a:solidFill>
                  <a:schemeClr val="dk1"/>
                </a:solidFill>
              </a:defRPr>
            </a:lvl2pPr>
            <a:lvl3pPr lvl="2" rtl="0" algn="r">
              <a:lnSpc>
                <a:spcPct val="100000"/>
              </a:lnSpc>
              <a:spcBef>
                <a:spcPts val="0"/>
              </a:spcBef>
              <a:spcAft>
                <a:spcPts val="0"/>
              </a:spcAft>
              <a:buNone/>
              <a:defRPr sz="1400">
                <a:solidFill>
                  <a:schemeClr val="dk1"/>
                </a:solidFill>
              </a:defRPr>
            </a:lvl3pPr>
            <a:lvl4pPr lvl="3" rtl="0" algn="r">
              <a:lnSpc>
                <a:spcPct val="100000"/>
              </a:lnSpc>
              <a:spcBef>
                <a:spcPts val="0"/>
              </a:spcBef>
              <a:spcAft>
                <a:spcPts val="0"/>
              </a:spcAft>
              <a:buNone/>
              <a:defRPr sz="1400">
                <a:solidFill>
                  <a:schemeClr val="dk1"/>
                </a:solidFill>
              </a:defRPr>
            </a:lvl4pPr>
            <a:lvl5pPr lvl="4" rtl="0" algn="r">
              <a:lnSpc>
                <a:spcPct val="100000"/>
              </a:lnSpc>
              <a:spcBef>
                <a:spcPts val="0"/>
              </a:spcBef>
              <a:spcAft>
                <a:spcPts val="0"/>
              </a:spcAft>
              <a:buNone/>
              <a:defRPr sz="1400">
                <a:solidFill>
                  <a:schemeClr val="dk1"/>
                </a:solidFill>
              </a:defRPr>
            </a:lvl5pPr>
            <a:lvl6pPr lvl="5" rtl="0" algn="r">
              <a:lnSpc>
                <a:spcPct val="100000"/>
              </a:lnSpc>
              <a:spcBef>
                <a:spcPts val="0"/>
              </a:spcBef>
              <a:spcAft>
                <a:spcPts val="0"/>
              </a:spcAft>
              <a:buNone/>
              <a:defRPr sz="1400">
                <a:solidFill>
                  <a:schemeClr val="dk1"/>
                </a:solidFill>
              </a:defRPr>
            </a:lvl6pPr>
            <a:lvl7pPr lvl="6" rtl="0" algn="r">
              <a:lnSpc>
                <a:spcPct val="100000"/>
              </a:lnSpc>
              <a:spcBef>
                <a:spcPts val="0"/>
              </a:spcBef>
              <a:spcAft>
                <a:spcPts val="0"/>
              </a:spcAft>
              <a:buNone/>
              <a:defRPr sz="1400">
                <a:solidFill>
                  <a:schemeClr val="dk1"/>
                </a:solidFill>
              </a:defRPr>
            </a:lvl7pPr>
            <a:lvl8pPr lvl="7" rtl="0" algn="r">
              <a:lnSpc>
                <a:spcPct val="100000"/>
              </a:lnSpc>
              <a:spcBef>
                <a:spcPts val="0"/>
              </a:spcBef>
              <a:spcAft>
                <a:spcPts val="0"/>
              </a:spcAft>
              <a:buNone/>
              <a:defRPr sz="1400">
                <a:solidFill>
                  <a:schemeClr val="dk1"/>
                </a:solidFill>
              </a:defRPr>
            </a:lvl8pPr>
            <a:lvl9pPr lvl="8" rtl="0" algn="r">
              <a:lnSpc>
                <a:spcPct val="100000"/>
              </a:lnSpc>
              <a:spcBef>
                <a:spcPts val="0"/>
              </a:spcBef>
              <a:spcAft>
                <a:spcPts val="0"/>
              </a:spcAft>
              <a:buNone/>
              <a:defRPr sz="1400">
                <a:solidFill>
                  <a:schemeClr val="dk1"/>
                </a:solidFill>
              </a:defRPr>
            </a:lvl9pPr>
          </a:lstStyle>
          <a:p/>
        </p:txBody>
      </p:sp>
      <p:sp>
        <p:nvSpPr>
          <p:cNvPr id="139" name="Google Shape;139;p19"/>
          <p:cNvSpPr txBox="1"/>
          <p:nvPr>
            <p:ph idx="7" type="subTitle"/>
          </p:nvPr>
        </p:nvSpPr>
        <p:spPr>
          <a:xfrm>
            <a:off x="3156026" y="3064926"/>
            <a:ext cx="2479500" cy="3402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a:solidFill>
                  <a:schemeClr val="accent1"/>
                </a:solidFill>
              </a:defRPr>
            </a:lvl1pPr>
            <a:lvl2pPr lvl="1" rtl="0" algn="r">
              <a:spcBef>
                <a:spcPts val="1600"/>
              </a:spcBef>
              <a:spcAft>
                <a:spcPts val="0"/>
              </a:spcAft>
              <a:buNone/>
              <a:defRPr b="1">
                <a:solidFill>
                  <a:schemeClr val="accent1"/>
                </a:solidFill>
              </a:defRPr>
            </a:lvl2pPr>
            <a:lvl3pPr lvl="2" rtl="0" algn="r">
              <a:spcBef>
                <a:spcPts val="1600"/>
              </a:spcBef>
              <a:spcAft>
                <a:spcPts val="0"/>
              </a:spcAft>
              <a:buNone/>
              <a:defRPr b="1">
                <a:solidFill>
                  <a:schemeClr val="accent1"/>
                </a:solidFill>
              </a:defRPr>
            </a:lvl3pPr>
            <a:lvl4pPr lvl="3" rtl="0" algn="r">
              <a:spcBef>
                <a:spcPts val="1600"/>
              </a:spcBef>
              <a:spcAft>
                <a:spcPts val="0"/>
              </a:spcAft>
              <a:buNone/>
              <a:defRPr b="1">
                <a:solidFill>
                  <a:schemeClr val="accent1"/>
                </a:solidFill>
              </a:defRPr>
            </a:lvl4pPr>
            <a:lvl5pPr lvl="4" rtl="0" algn="r">
              <a:spcBef>
                <a:spcPts val="1600"/>
              </a:spcBef>
              <a:spcAft>
                <a:spcPts val="0"/>
              </a:spcAft>
              <a:buNone/>
              <a:defRPr b="1">
                <a:solidFill>
                  <a:schemeClr val="accent1"/>
                </a:solidFill>
              </a:defRPr>
            </a:lvl5pPr>
            <a:lvl6pPr lvl="5" rtl="0" algn="r">
              <a:spcBef>
                <a:spcPts val="1600"/>
              </a:spcBef>
              <a:spcAft>
                <a:spcPts val="0"/>
              </a:spcAft>
              <a:buNone/>
              <a:defRPr b="1">
                <a:solidFill>
                  <a:schemeClr val="accent1"/>
                </a:solidFill>
              </a:defRPr>
            </a:lvl6pPr>
            <a:lvl7pPr lvl="6" rtl="0" algn="r">
              <a:spcBef>
                <a:spcPts val="1600"/>
              </a:spcBef>
              <a:spcAft>
                <a:spcPts val="0"/>
              </a:spcAft>
              <a:buNone/>
              <a:defRPr b="1">
                <a:solidFill>
                  <a:schemeClr val="accent1"/>
                </a:solidFill>
              </a:defRPr>
            </a:lvl7pPr>
            <a:lvl8pPr lvl="7" rtl="0" algn="r">
              <a:spcBef>
                <a:spcPts val="1600"/>
              </a:spcBef>
              <a:spcAft>
                <a:spcPts val="0"/>
              </a:spcAft>
              <a:buNone/>
              <a:defRPr b="1">
                <a:solidFill>
                  <a:schemeClr val="accent1"/>
                </a:solidFill>
              </a:defRPr>
            </a:lvl8pPr>
            <a:lvl9pPr lvl="8" rtl="0" algn="r">
              <a:spcBef>
                <a:spcPts val="1600"/>
              </a:spcBef>
              <a:spcAft>
                <a:spcPts val="1600"/>
              </a:spcAft>
              <a:buNone/>
              <a:defRPr b="1">
                <a:solidFill>
                  <a:schemeClr val="accent1"/>
                </a:solidFill>
              </a:defRPr>
            </a:lvl9pPr>
          </a:lstStyle>
          <a:p/>
        </p:txBody>
      </p:sp>
      <p:sp>
        <p:nvSpPr>
          <p:cNvPr id="140" name="Google Shape;140;p19"/>
          <p:cNvSpPr txBox="1"/>
          <p:nvPr>
            <p:ph idx="8" type="subTitle"/>
          </p:nvPr>
        </p:nvSpPr>
        <p:spPr>
          <a:xfrm>
            <a:off x="3155976" y="3436049"/>
            <a:ext cx="2479500" cy="8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dk1"/>
                </a:solidFill>
              </a:defRPr>
            </a:lvl1pPr>
            <a:lvl2pPr lvl="1" rtl="0" algn="r">
              <a:lnSpc>
                <a:spcPct val="100000"/>
              </a:lnSpc>
              <a:spcBef>
                <a:spcPts val="1600"/>
              </a:spcBef>
              <a:spcAft>
                <a:spcPts val="0"/>
              </a:spcAft>
              <a:buNone/>
              <a:defRPr sz="1400">
                <a:solidFill>
                  <a:schemeClr val="dk1"/>
                </a:solidFill>
              </a:defRPr>
            </a:lvl2pPr>
            <a:lvl3pPr lvl="2" rtl="0" algn="r">
              <a:lnSpc>
                <a:spcPct val="100000"/>
              </a:lnSpc>
              <a:spcBef>
                <a:spcPts val="1600"/>
              </a:spcBef>
              <a:spcAft>
                <a:spcPts val="0"/>
              </a:spcAft>
              <a:buNone/>
              <a:defRPr sz="1400">
                <a:solidFill>
                  <a:schemeClr val="dk1"/>
                </a:solidFill>
              </a:defRPr>
            </a:lvl3pPr>
            <a:lvl4pPr lvl="3" rtl="0" algn="r">
              <a:lnSpc>
                <a:spcPct val="100000"/>
              </a:lnSpc>
              <a:spcBef>
                <a:spcPts val="1600"/>
              </a:spcBef>
              <a:spcAft>
                <a:spcPts val="0"/>
              </a:spcAft>
              <a:buNone/>
              <a:defRPr sz="1400">
                <a:solidFill>
                  <a:schemeClr val="dk1"/>
                </a:solidFill>
              </a:defRPr>
            </a:lvl4pPr>
            <a:lvl5pPr lvl="4" rtl="0" algn="r">
              <a:lnSpc>
                <a:spcPct val="100000"/>
              </a:lnSpc>
              <a:spcBef>
                <a:spcPts val="1600"/>
              </a:spcBef>
              <a:spcAft>
                <a:spcPts val="0"/>
              </a:spcAft>
              <a:buNone/>
              <a:defRPr sz="1400">
                <a:solidFill>
                  <a:schemeClr val="dk1"/>
                </a:solidFill>
              </a:defRPr>
            </a:lvl5pPr>
            <a:lvl6pPr lvl="5" rtl="0" algn="r">
              <a:lnSpc>
                <a:spcPct val="100000"/>
              </a:lnSpc>
              <a:spcBef>
                <a:spcPts val="1600"/>
              </a:spcBef>
              <a:spcAft>
                <a:spcPts val="0"/>
              </a:spcAft>
              <a:buNone/>
              <a:defRPr sz="1400">
                <a:solidFill>
                  <a:schemeClr val="dk1"/>
                </a:solidFill>
              </a:defRPr>
            </a:lvl6pPr>
            <a:lvl7pPr lvl="6" rtl="0" algn="r">
              <a:lnSpc>
                <a:spcPct val="100000"/>
              </a:lnSpc>
              <a:spcBef>
                <a:spcPts val="1600"/>
              </a:spcBef>
              <a:spcAft>
                <a:spcPts val="0"/>
              </a:spcAft>
              <a:buNone/>
              <a:defRPr sz="1400">
                <a:solidFill>
                  <a:schemeClr val="dk1"/>
                </a:solidFill>
              </a:defRPr>
            </a:lvl7pPr>
            <a:lvl8pPr lvl="7" rtl="0" algn="r">
              <a:lnSpc>
                <a:spcPct val="100000"/>
              </a:lnSpc>
              <a:spcBef>
                <a:spcPts val="1600"/>
              </a:spcBef>
              <a:spcAft>
                <a:spcPts val="0"/>
              </a:spcAft>
              <a:buNone/>
              <a:defRPr sz="1400">
                <a:solidFill>
                  <a:schemeClr val="dk1"/>
                </a:solidFill>
              </a:defRPr>
            </a:lvl8pPr>
            <a:lvl9pPr lvl="8" rtl="0" algn="r">
              <a:lnSpc>
                <a:spcPct val="100000"/>
              </a:lnSpc>
              <a:spcBef>
                <a:spcPts val="1600"/>
              </a:spcBef>
              <a:spcAft>
                <a:spcPts val="1600"/>
              </a:spcAft>
              <a:buNone/>
              <a:defRPr sz="1400">
                <a:solidFill>
                  <a:schemeClr val="dk1"/>
                </a:solidFill>
              </a:defRPr>
            </a:lvl9pPr>
          </a:lstStyle>
          <a:p/>
        </p:txBody>
      </p:sp>
      <p:sp>
        <p:nvSpPr>
          <p:cNvPr id="141" name="Google Shape;141;p19"/>
          <p:cNvSpPr txBox="1"/>
          <p:nvPr>
            <p:ph type="title"/>
          </p:nvPr>
        </p:nvSpPr>
        <p:spPr>
          <a:xfrm>
            <a:off x="717800" y="383175"/>
            <a:ext cx="77082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42" name="Google Shape;142;p19"/>
          <p:cNvSpPr/>
          <p:nvPr/>
        </p:nvSpPr>
        <p:spPr>
          <a:xfrm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p:nvPr/>
        </p:nvSpPr>
        <p:spPr>
          <a:xfrm rot="10800000">
            <a:off x="1216200" y="1061825"/>
            <a:ext cx="1216200" cy="150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CUSTOM_6">
    <p:spTree>
      <p:nvGrpSpPr>
        <p:cNvPr id="145" name="Shape 145"/>
        <p:cNvGrpSpPr/>
        <p:nvPr/>
      </p:nvGrpSpPr>
      <p:grpSpPr>
        <a:xfrm>
          <a:off x="0" y="0"/>
          <a:ext cx="0" cy="0"/>
          <a:chOff x="0" y="0"/>
          <a:chExt cx="0" cy="0"/>
        </a:xfrm>
      </p:grpSpPr>
      <p:sp>
        <p:nvSpPr>
          <p:cNvPr id="146" name="Google Shape;146;p20"/>
          <p:cNvSpPr txBox="1"/>
          <p:nvPr>
            <p:ph type="title"/>
          </p:nvPr>
        </p:nvSpPr>
        <p:spPr>
          <a:xfrm>
            <a:off x="3984975" y="1495800"/>
            <a:ext cx="4055400" cy="7230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20"/>
          <p:cNvSpPr txBox="1"/>
          <p:nvPr>
            <p:ph idx="1" type="subTitle"/>
          </p:nvPr>
        </p:nvSpPr>
        <p:spPr>
          <a:xfrm>
            <a:off x="3994375" y="2142600"/>
            <a:ext cx="4055400" cy="15051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14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48" name="Google Shape;148;p20"/>
          <p:cNvSpPr/>
          <p:nvPr/>
        </p:nvSpPr>
        <p:spPr>
          <a:xfrm flipH="1" rot="10800000">
            <a:off x="0" y="2571825"/>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0"/>
          <p:cNvSpPr/>
          <p:nvPr/>
        </p:nvSpPr>
        <p:spPr>
          <a:xfrm flipH="1" rot="10800000">
            <a:off x="1219200" y="1247175"/>
            <a:ext cx="1216200" cy="132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CUSTOM_10">
    <p:spTree>
      <p:nvGrpSpPr>
        <p:cNvPr id="151" name="Shape 151"/>
        <p:cNvGrpSpPr/>
        <p:nvPr/>
      </p:nvGrpSpPr>
      <p:grpSpPr>
        <a:xfrm>
          <a:off x="0" y="0"/>
          <a:ext cx="0" cy="0"/>
          <a:chOff x="0" y="0"/>
          <a:chExt cx="0" cy="0"/>
        </a:xfrm>
      </p:grpSpPr>
      <p:sp>
        <p:nvSpPr>
          <p:cNvPr id="152" name="Google Shape;152;p21"/>
          <p:cNvSpPr txBox="1"/>
          <p:nvPr>
            <p:ph type="title"/>
          </p:nvPr>
        </p:nvSpPr>
        <p:spPr>
          <a:xfrm>
            <a:off x="3730075" y="1631700"/>
            <a:ext cx="4700700" cy="10902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accent1"/>
              </a:buClr>
              <a:buSzPts val="2800"/>
              <a:buNone/>
              <a:defRPr sz="3000">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3" name="Google Shape;153;p21"/>
          <p:cNvSpPr txBox="1"/>
          <p:nvPr>
            <p:ph idx="1" type="subTitle"/>
          </p:nvPr>
        </p:nvSpPr>
        <p:spPr>
          <a:xfrm>
            <a:off x="3730075" y="2726700"/>
            <a:ext cx="4700700" cy="8613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1400"/>
              <a:buNone/>
              <a:defRPr sz="14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4" name="Google Shape;154;p21"/>
          <p:cNvSpPr/>
          <p:nvPr/>
        </p:nvSpPr>
        <p:spPr>
          <a:xfrm flipH="1" rot="10800000">
            <a:off x="2110925"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flipH="1" rot="10800000">
            <a:off x="0" y="257175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4">
    <p:spTree>
      <p:nvGrpSpPr>
        <p:cNvPr id="157" name="Shape 157"/>
        <p:cNvGrpSpPr/>
        <p:nvPr/>
      </p:nvGrpSpPr>
      <p:grpSpPr>
        <a:xfrm>
          <a:off x="0" y="0"/>
          <a:ext cx="0" cy="0"/>
          <a:chOff x="0" y="0"/>
          <a:chExt cx="0" cy="0"/>
        </a:xfrm>
      </p:grpSpPr>
      <p:sp>
        <p:nvSpPr>
          <p:cNvPr id="158" name="Google Shape;158;p22"/>
          <p:cNvSpPr txBox="1"/>
          <p:nvPr>
            <p:ph type="title"/>
          </p:nvPr>
        </p:nvSpPr>
        <p:spPr>
          <a:xfrm>
            <a:off x="717800" y="383175"/>
            <a:ext cx="7708200" cy="9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59" name="Google Shape;159;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7">
    <p:spTree>
      <p:nvGrpSpPr>
        <p:cNvPr id="160" name="Shape 160"/>
        <p:cNvGrpSpPr/>
        <p:nvPr/>
      </p:nvGrpSpPr>
      <p:grpSpPr>
        <a:xfrm>
          <a:off x="0" y="0"/>
          <a:ext cx="0" cy="0"/>
          <a:chOff x="0" y="0"/>
          <a:chExt cx="0" cy="0"/>
        </a:xfrm>
      </p:grpSpPr>
      <p:sp>
        <p:nvSpPr>
          <p:cNvPr id="161" name="Google Shape;161;p23"/>
          <p:cNvSpPr txBox="1"/>
          <p:nvPr>
            <p:ph type="title"/>
          </p:nvPr>
        </p:nvSpPr>
        <p:spPr>
          <a:xfrm>
            <a:off x="717800" y="383175"/>
            <a:ext cx="7708200" cy="9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62" name="Google Shape;162;p23"/>
          <p:cNvSpPr/>
          <p:nvPr/>
        </p:nvSpPr>
        <p:spPr>
          <a:xfrm flipH="1">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flipH="1">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65" name="Shape 165"/>
        <p:cNvGrpSpPr/>
        <p:nvPr/>
      </p:nvGrpSpPr>
      <p:grpSpPr>
        <a:xfrm>
          <a:off x="0" y="0"/>
          <a:ext cx="0" cy="0"/>
          <a:chOff x="0" y="0"/>
          <a:chExt cx="0" cy="0"/>
        </a:xfrm>
      </p:grpSpPr>
      <p:sp>
        <p:nvSpPr>
          <p:cNvPr id="166" name="Google Shape;166;p24"/>
          <p:cNvSpPr txBox="1"/>
          <p:nvPr>
            <p:ph type="title"/>
          </p:nvPr>
        </p:nvSpPr>
        <p:spPr>
          <a:xfrm>
            <a:off x="717800" y="383175"/>
            <a:ext cx="7708200" cy="740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67" name="Google Shape;167;p24"/>
          <p:cNvSpPr txBox="1"/>
          <p:nvPr>
            <p:ph idx="1" type="subTitle"/>
          </p:nvPr>
        </p:nvSpPr>
        <p:spPr>
          <a:xfrm>
            <a:off x="717800" y="1255775"/>
            <a:ext cx="4631700" cy="33981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sz="1400">
                <a:solidFill>
                  <a:schemeClr val="dk1"/>
                </a:solidFill>
              </a:defRPr>
            </a:lvl1pPr>
            <a:lvl2pPr lvl="1">
              <a:spcBef>
                <a:spcPts val="1600"/>
              </a:spcBef>
              <a:spcAft>
                <a:spcPts val="0"/>
              </a:spcAft>
              <a:buSzPts val="1400"/>
              <a:buChar char="○"/>
              <a:defRPr/>
            </a:lvl2pPr>
            <a:lvl3pPr lvl="2">
              <a:spcBef>
                <a:spcPts val="1600"/>
              </a:spcBef>
              <a:spcAft>
                <a:spcPts val="0"/>
              </a:spcAft>
              <a:buSzPts val="1400"/>
              <a:buChar char="■"/>
              <a:defRPr/>
            </a:lvl3pPr>
            <a:lvl4pPr lvl="3">
              <a:spcBef>
                <a:spcPts val="1600"/>
              </a:spcBef>
              <a:spcAft>
                <a:spcPts val="0"/>
              </a:spcAft>
              <a:buSzPts val="1400"/>
              <a:buChar char="●"/>
              <a:defRPr/>
            </a:lvl4pPr>
            <a:lvl5pPr lvl="4">
              <a:spcBef>
                <a:spcPts val="1600"/>
              </a:spcBef>
              <a:spcAft>
                <a:spcPts val="0"/>
              </a:spcAft>
              <a:buSzPts val="1400"/>
              <a:buChar char="○"/>
              <a:defRPr/>
            </a:lvl5pPr>
            <a:lvl6pPr lvl="5">
              <a:spcBef>
                <a:spcPts val="1600"/>
              </a:spcBef>
              <a:spcAft>
                <a:spcPts val="0"/>
              </a:spcAft>
              <a:buSzPts val="1400"/>
              <a:buChar char="■"/>
              <a:defRPr/>
            </a:lvl6pPr>
            <a:lvl7pPr lvl="6">
              <a:spcBef>
                <a:spcPts val="1600"/>
              </a:spcBef>
              <a:spcAft>
                <a:spcPts val="0"/>
              </a:spcAft>
              <a:buSzPts val="1400"/>
              <a:buChar char="●"/>
              <a:defRPr/>
            </a:lvl7pPr>
            <a:lvl8pPr lvl="7">
              <a:spcBef>
                <a:spcPts val="1600"/>
              </a:spcBef>
              <a:spcAft>
                <a:spcPts val="0"/>
              </a:spcAft>
              <a:buSzPts val="1400"/>
              <a:buChar char="○"/>
              <a:defRPr/>
            </a:lvl8pPr>
            <a:lvl9pPr lvl="8">
              <a:spcBef>
                <a:spcPts val="1600"/>
              </a:spcBef>
              <a:spcAft>
                <a:spcPts val="1600"/>
              </a:spcAft>
              <a:buSzPts val="1400"/>
              <a:buChar char="■"/>
              <a:defRPr/>
            </a:lvl9pPr>
          </a:lstStyle>
          <a:p/>
        </p:txBody>
      </p:sp>
      <p:sp>
        <p:nvSpPr>
          <p:cNvPr id="168" name="Google Shape;168;p24"/>
          <p:cNvSpPr/>
          <p:nvPr/>
        </p:nvSpPr>
        <p:spPr>
          <a:xfrm>
            <a:off x="7927800" y="257160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70" name="Shape 170"/>
        <p:cNvGrpSpPr/>
        <p:nvPr/>
      </p:nvGrpSpPr>
      <p:grpSpPr>
        <a:xfrm>
          <a:off x="0" y="0"/>
          <a:ext cx="0" cy="0"/>
          <a:chOff x="0" y="0"/>
          <a:chExt cx="0" cy="0"/>
        </a:xfrm>
      </p:grpSpPr>
      <p:sp>
        <p:nvSpPr>
          <p:cNvPr id="171" name="Google Shape;171;p25"/>
          <p:cNvSpPr txBox="1"/>
          <p:nvPr>
            <p:ph hasCustomPrompt="1" type="title"/>
          </p:nvPr>
        </p:nvSpPr>
        <p:spPr>
          <a:xfrm>
            <a:off x="750975"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72" name="Google Shape;172;p25"/>
          <p:cNvSpPr txBox="1"/>
          <p:nvPr>
            <p:ph idx="1" type="subTitle"/>
          </p:nvPr>
        </p:nvSpPr>
        <p:spPr>
          <a:xfrm>
            <a:off x="750975"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73" name="Google Shape;173;p25"/>
          <p:cNvSpPr txBox="1"/>
          <p:nvPr>
            <p:ph hasCustomPrompt="1" idx="2" type="title"/>
          </p:nvPr>
        </p:nvSpPr>
        <p:spPr>
          <a:xfrm>
            <a:off x="3508587"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74" name="Google Shape;174;p25"/>
          <p:cNvSpPr txBox="1"/>
          <p:nvPr>
            <p:ph idx="3" type="subTitle"/>
          </p:nvPr>
        </p:nvSpPr>
        <p:spPr>
          <a:xfrm>
            <a:off x="3508587"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75" name="Google Shape;175;p25"/>
          <p:cNvSpPr txBox="1"/>
          <p:nvPr>
            <p:ph idx="4" type="title"/>
          </p:nvPr>
        </p:nvSpPr>
        <p:spPr>
          <a:xfrm>
            <a:off x="717800" y="383175"/>
            <a:ext cx="7708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76" name="Google Shape;176;p25"/>
          <p:cNvSpPr txBox="1"/>
          <p:nvPr>
            <p:ph hasCustomPrompt="1" idx="5" type="title"/>
          </p:nvPr>
        </p:nvSpPr>
        <p:spPr>
          <a:xfrm>
            <a:off x="6216100" y="2819150"/>
            <a:ext cx="2164200" cy="647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sz="3000">
                <a:solidFill>
                  <a:schemeClr val="dk2"/>
                </a:solidFill>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177" name="Google Shape;177;p25"/>
          <p:cNvSpPr txBox="1"/>
          <p:nvPr>
            <p:ph idx="6" type="subTitle"/>
          </p:nvPr>
        </p:nvSpPr>
        <p:spPr>
          <a:xfrm>
            <a:off x="6216100" y="3390050"/>
            <a:ext cx="2164200" cy="647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800"/>
              <a:buNone/>
              <a:defRPr sz="1400">
                <a:solidFill>
                  <a:schemeClr val="dk1"/>
                </a:solidFill>
              </a:defRPr>
            </a:lvl1pPr>
            <a:lvl2pPr lvl="1" rtl="0" algn="r">
              <a:spcBef>
                <a:spcPts val="1600"/>
              </a:spcBef>
              <a:spcAft>
                <a:spcPts val="0"/>
              </a:spcAft>
              <a:buClr>
                <a:schemeClr val="dk1"/>
              </a:buClr>
              <a:buSzPts val="2000"/>
              <a:buNone/>
              <a:defRPr sz="2000">
                <a:solidFill>
                  <a:schemeClr val="dk1"/>
                </a:solidFill>
              </a:defRPr>
            </a:lvl2pPr>
            <a:lvl3pPr lvl="2" rtl="0" algn="r">
              <a:spcBef>
                <a:spcPts val="1600"/>
              </a:spcBef>
              <a:spcAft>
                <a:spcPts val="0"/>
              </a:spcAft>
              <a:buClr>
                <a:schemeClr val="dk1"/>
              </a:buClr>
              <a:buSzPts val="2000"/>
              <a:buNone/>
              <a:defRPr sz="2000">
                <a:solidFill>
                  <a:schemeClr val="dk1"/>
                </a:solidFill>
              </a:defRPr>
            </a:lvl3pPr>
            <a:lvl4pPr lvl="3" rtl="0" algn="r">
              <a:spcBef>
                <a:spcPts val="1600"/>
              </a:spcBef>
              <a:spcAft>
                <a:spcPts val="0"/>
              </a:spcAft>
              <a:buClr>
                <a:schemeClr val="dk1"/>
              </a:buClr>
              <a:buSzPts val="2000"/>
              <a:buNone/>
              <a:defRPr sz="2000">
                <a:solidFill>
                  <a:schemeClr val="dk1"/>
                </a:solidFill>
              </a:defRPr>
            </a:lvl4pPr>
            <a:lvl5pPr lvl="4" rtl="0" algn="r">
              <a:spcBef>
                <a:spcPts val="1600"/>
              </a:spcBef>
              <a:spcAft>
                <a:spcPts val="0"/>
              </a:spcAft>
              <a:buClr>
                <a:schemeClr val="dk1"/>
              </a:buClr>
              <a:buSzPts val="2000"/>
              <a:buNone/>
              <a:defRPr sz="2000">
                <a:solidFill>
                  <a:schemeClr val="dk1"/>
                </a:solidFill>
              </a:defRPr>
            </a:lvl5pPr>
            <a:lvl6pPr lvl="5" rtl="0" algn="r">
              <a:spcBef>
                <a:spcPts val="1600"/>
              </a:spcBef>
              <a:spcAft>
                <a:spcPts val="0"/>
              </a:spcAft>
              <a:buClr>
                <a:schemeClr val="dk1"/>
              </a:buClr>
              <a:buSzPts val="2000"/>
              <a:buNone/>
              <a:defRPr sz="2000">
                <a:solidFill>
                  <a:schemeClr val="dk1"/>
                </a:solidFill>
              </a:defRPr>
            </a:lvl6pPr>
            <a:lvl7pPr lvl="6" rtl="0" algn="r">
              <a:spcBef>
                <a:spcPts val="1600"/>
              </a:spcBef>
              <a:spcAft>
                <a:spcPts val="0"/>
              </a:spcAft>
              <a:buClr>
                <a:schemeClr val="dk1"/>
              </a:buClr>
              <a:buSzPts val="2000"/>
              <a:buNone/>
              <a:defRPr sz="2000">
                <a:solidFill>
                  <a:schemeClr val="dk1"/>
                </a:solidFill>
              </a:defRPr>
            </a:lvl7pPr>
            <a:lvl8pPr lvl="7" rtl="0" algn="r">
              <a:spcBef>
                <a:spcPts val="1600"/>
              </a:spcBef>
              <a:spcAft>
                <a:spcPts val="0"/>
              </a:spcAft>
              <a:buClr>
                <a:schemeClr val="dk1"/>
              </a:buClr>
              <a:buSzPts val="2000"/>
              <a:buNone/>
              <a:defRPr sz="2000">
                <a:solidFill>
                  <a:schemeClr val="dk1"/>
                </a:solidFill>
              </a:defRPr>
            </a:lvl8pPr>
            <a:lvl9pPr lvl="8" rtl="0" algn="r">
              <a:spcBef>
                <a:spcPts val="1600"/>
              </a:spcBef>
              <a:spcAft>
                <a:spcPts val="1600"/>
              </a:spcAft>
              <a:buClr>
                <a:schemeClr val="dk1"/>
              </a:buClr>
              <a:buSzPts val="2000"/>
              <a:buNone/>
              <a:defRPr sz="2000">
                <a:solidFill>
                  <a:schemeClr val="dk1"/>
                </a:solidFill>
              </a:defRPr>
            </a:lvl9pPr>
          </a:lstStyle>
          <a:p/>
        </p:txBody>
      </p:sp>
      <p:sp>
        <p:nvSpPr>
          <p:cNvPr id="178" name="Google Shape;178;p25"/>
          <p:cNvSpPr/>
          <p:nvPr/>
        </p:nvSpPr>
        <p:spPr>
          <a:xfrm flipH="1">
            <a:off x="50" y="4834275"/>
            <a:ext cx="4572000" cy="3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flipH="1">
            <a:off x="4572000" y="4834275"/>
            <a:ext cx="4572000" cy="30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2">
    <p:spTree>
      <p:nvGrpSpPr>
        <p:cNvPr id="181" name="Shape 181"/>
        <p:cNvGrpSpPr/>
        <p:nvPr/>
      </p:nvGrpSpPr>
      <p:grpSpPr>
        <a:xfrm>
          <a:off x="0" y="0"/>
          <a:ext cx="0" cy="0"/>
          <a:chOff x="0" y="0"/>
          <a:chExt cx="0" cy="0"/>
        </a:xfrm>
      </p:grpSpPr>
      <p:sp>
        <p:nvSpPr>
          <p:cNvPr id="182" name="Google Shape;182;p26"/>
          <p:cNvSpPr txBox="1"/>
          <p:nvPr>
            <p:ph idx="1" type="subTitle"/>
          </p:nvPr>
        </p:nvSpPr>
        <p:spPr>
          <a:xfrm>
            <a:off x="71190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83" name="Google Shape;183;p26"/>
          <p:cNvSpPr txBox="1"/>
          <p:nvPr>
            <p:ph idx="2" type="subTitle"/>
          </p:nvPr>
        </p:nvSpPr>
        <p:spPr>
          <a:xfrm>
            <a:off x="71190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84" name="Google Shape;184;p26"/>
          <p:cNvSpPr txBox="1"/>
          <p:nvPr>
            <p:ph idx="3" type="subTitle"/>
          </p:nvPr>
        </p:nvSpPr>
        <p:spPr>
          <a:xfrm>
            <a:off x="298395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85" name="Google Shape;185;p26"/>
          <p:cNvSpPr txBox="1"/>
          <p:nvPr>
            <p:ph idx="4" type="subTitle"/>
          </p:nvPr>
        </p:nvSpPr>
        <p:spPr>
          <a:xfrm>
            <a:off x="298395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86" name="Google Shape;186;p26"/>
          <p:cNvSpPr txBox="1"/>
          <p:nvPr>
            <p:ph idx="5" type="subTitle"/>
          </p:nvPr>
        </p:nvSpPr>
        <p:spPr>
          <a:xfrm>
            <a:off x="5256000" y="14760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87" name="Google Shape;187;p26"/>
          <p:cNvSpPr txBox="1"/>
          <p:nvPr>
            <p:ph idx="6" type="subTitle"/>
          </p:nvPr>
        </p:nvSpPr>
        <p:spPr>
          <a:xfrm>
            <a:off x="5256000" y="18514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p:txBody>
      </p:sp>
      <p:sp>
        <p:nvSpPr>
          <p:cNvPr id="188" name="Google Shape;188;p26"/>
          <p:cNvSpPr txBox="1"/>
          <p:nvPr>
            <p:ph idx="7" type="subTitle"/>
          </p:nvPr>
        </p:nvSpPr>
        <p:spPr>
          <a:xfrm>
            <a:off x="71190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89" name="Google Shape;189;p26"/>
          <p:cNvSpPr txBox="1"/>
          <p:nvPr>
            <p:ph idx="8" type="subTitle"/>
          </p:nvPr>
        </p:nvSpPr>
        <p:spPr>
          <a:xfrm>
            <a:off x="71190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0" name="Google Shape;190;p26"/>
          <p:cNvSpPr txBox="1"/>
          <p:nvPr>
            <p:ph idx="9" type="subTitle"/>
          </p:nvPr>
        </p:nvSpPr>
        <p:spPr>
          <a:xfrm>
            <a:off x="298395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1" name="Google Shape;191;p26"/>
          <p:cNvSpPr txBox="1"/>
          <p:nvPr>
            <p:ph idx="13" type="subTitle"/>
          </p:nvPr>
        </p:nvSpPr>
        <p:spPr>
          <a:xfrm>
            <a:off x="298395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2" name="Google Shape;192;p26"/>
          <p:cNvSpPr txBox="1"/>
          <p:nvPr>
            <p:ph idx="14" type="subTitle"/>
          </p:nvPr>
        </p:nvSpPr>
        <p:spPr>
          <a:xfrm>
            <a:off x="5256000" y="2952200"/>
            <a:ext cx="2261700" cy="4086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p:txBody>
      </p:sp>
      <p:sp>
        <p:nvSpPr>
          <p:cNvPr id="193" name="Google Shape;193;p26"/>
          <p:cNvSpPr txBox="1"/>
          <p:nvPr>
            <p:ph idx="15" type="subTitle"/>
          </p:nvPr>
        </p:nvSpPr>
        <p:spPr>
          <a:xfrm>
            <a:off x="5256000" y="3327650"/>
            <a:ext cx="2261700" cy="72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p:txBody>
      </p:sp>
      <p:sp>
        <p:nvSpPr>
          <p:cNvPr id="194" name="Google Shape;194;p26"/>
          <p:cNvSpPr txBox="1"/>
          <p:nvPr>
            <p:ph type="title"/>
          </p:nvPr>
        </p:nvSpPr>
        <p:spPr>
          <a:xfrm>
            <a:off x="717800" y="383175"/>
            <a:ext cx="7708200" cy="647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p:txBody>
      </p:sp>
      <p:sp>
        <p:nvSpPr>
          <p:cNvPr id="195" name="Google Shape;195;p26"/>
          <p:cNvSpPr/>
          <p:nvPr/>
        </p:nvSpPr>
        <p:spPr>
          <a:xfrm>
            <a:off x="7927800" y="257160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6"/>
          <p:cNvSpPr/>
          <p:nvPr/>
        </p:nvSpPr>
        <p:spPr>
          <a:xfrm>
            <a:off x="7927800" y="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5">
    <p:spTree>
      <p:nvGrpSpPr>
        <p:cNvPr id="198" name="Shape 198"/>
        <p:cNvGrpSpPr/>
        <p:nvPr/>
      </p:nvGrpSpPr>
      <p:grpSpPr>
        <a:xfrm>
          <a:off x="0" y="0"/>
          <a:ext cx="0" cy="0"/>
          <a:chOff x="0" y="0"/>
          <a:chExt cx="0" cy="0"/>
        </a:xfrm>
      </p:grpSpPr>
      <p:sp>
        <p:nvSpPr>
          <p:cNvPr id="199" name="Google Shape;199;p27"/>
          <p:cNvSpPr txBox="1"/>
          <p:nvPr>
            <p:ph type="title"/>
          </p:nvPr>
        </p:nvSpPr>
        <p:spPr>
          <a:xfrm>
            <a:off x="713225" y="445025"/>
            <a:ext cx="3858900" cy="1338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2800"/>
              <a:buNone/>
              <a:defRPr sz="7200">
                <a:solidFill>
                  <a:schemeClr val="accent1"/>
                </a:solidFill>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00" name="Google Shape;200;p27"/>
          <p:cNvSpPr txBox="1"/>
          <p:nvPr/>
        </p:nvSpPr>
        <p:spPr>
          <a:xfrm>
            <a:off x="713225" y="3485675"/>
            <a:ext cx="3956100" cy="61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300"/>
              </a:spcBef>
              <a:spcAft>
                <a:spcPts val="0"/>
              </a:spcAft>
              <a:buNone/>
            </a:pPr>
            <a:r>
              <a:rPr lang="en" sz="1100">
                <a:solidFill>
                  <a:schemeClr val="accent2"/>
                </a:solidFill>
                <a:latin typeface="Montserrat"/>
                <a:ea typeface="Montserrat"/>
                <a:cs typeface="Montserrat"/>
                <a:sym typeface="Montserrat"/>
              </a:rPr>
              <a:t>CREDITS: This presentation template was created by </a:t>
            </a:r>
            <a:r>
              <a:rPr b="1" lang="en" sz="1100">
                <a:solidFill>
                  <a:schemeClr val="accent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accent2"/>
                </a:solidFill>
                <a:latin typeface="Montserrat"/>
                <a:ea typeface="Montserrat"/>
                <a:cs typeface="Montserrat"/>
                <a:sym typeface="Montserrat"/>
              </a:rPr>
              <a:t>, including icons by </a:t>
            </a:r>
            <a:r>
              <a:rPr b="1" lang="en" sz="1100">
                <a:solidFill>
                  <a:schemeClr val="accent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accent2"/>
                </a:solidFill>
                <a:latin typeface="Montserrat"/>
                <a:ea typeface="Montserrat"/>
                <a:cs typeface="Montserrat"/>
                <a:sym typeface="Montserrat"/>
              </a:rPr>
              <a:t>, and infographics &amp; images by </a:t>
            </a:r>
            <a:r>
              <a:rPr b="1" lang="en" sz="1100">
                <a:solidFill>
                  <a:schemeClr val="accent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accent2"/>
              </a:solidFill>
              <a:latin typeface="Montserrat"/>
              <a:ea typeface="Montserrat"/>
              <a:cs typeface="Montserrat"/>
              <a:sym typeface="Montserrat"/>
            </a:endParaRPr>
          </a:p>
        </p:txBody>
      </p:sp>
      <p:sp>
        <p:nvSpPr>
          <p:cNvPr id="201" name="Google Shape;201;p27"/>
          <p:cNvSpPr/>
          <p:nvPr/>
        </p:nvSpPr>
        <p:spPr>
          <a:xfrm>
            <a:off x="6711600" y="2571600"/>
            <a:ext cx="1216200" cy="25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7927800" y="0"/>
            <a:ext cx="1216200" cy="257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Montserrat"/>
                <a:ea typeface="Montserrat"/>
                <a:cs typeface="Montserrat"/>
                <a:sym typeface="Montserrat"/>
              </a:defRPr>
            </a:lvl1pPr>
            <a:lvl2pPr lvl="1" algn="r">
              <a:buNone/>
              <a:defRPr sz="1300">
                <a:solidFill>
                  <a:schemeClr val="dk2"/>
                </a:solidFill>
                <a:latin typeface="Montserrat"/>
                <a:ea typeface="Montserrat"/>
                <a:cs typeface="Montserrat"/>
                <a:sym typeface="Montserrat"/>
              </a:defRPr>
            </a:lvl2pPr>
            <a:lvl3pPr lvl="2" algn="r">
              <a:buNone/>
              <a:defRPr sz="1300">
                <a:solidFill>
                  <a:schemeClr val="dk2"/>
                </a:solidFill>
                <a:latin typeface="Montserrat"/>
                <a:ea typeface="Montserrat"/>
                <a:cs typeface="Montserrat"/>
                <a:sym typeface="Montserrat"/>
              </a:defRPr>
            </a:lvl3pPr>
            <a:lvl4pPr lvl="3" algn="r">
              <a:buNone/>
              <a:defRPr sz="1300">
                <a:solidFill>
                  <a:schemeClr val="dk2"/>
                </a:solidFill>
                <a:latin typeface="Montserrat"/>
                <a:ea typeface="Montserrat"/>
                <a:cs typeface="Montserrat"/>
                <a:sym typeface="Montserrat"/>
              </a:defRPr>
            </a:lvl4pPr>
            <a:lvl5pPr lvl="4" algn="r">
              <a:buNone/>
              <a:defRPr sz="1300">
                <a:solidFill>
                  <a:schemeClr val="dk2"/>
                </a:solidFill>
                <a:latin typeface="Montserrat"/>
                <a:ea typeface="Montserrat"/>
                <a:cs typeface="Montserrat"/>
                <a:sym typeface="Montserrat"/>
              </a:defRPr>
            </a:lvl5pPr>
            <a:lvl6pPr lvl="5" algn="r">
              <a:buNone/>
              <a:defRPr sz="1300">
                <a:solidFill>
                  <a:schemeClr val="dk2"/>
                </a:solidFill>
                <a:latin typeface="Montserrat"/>
                <a:ea typeface="Montserrat"/>
                <a:cs typeface="Montserrat"/>
                <a:sym typeface="Montserrat"/>
              </a:defRPr>
            </a:lvl6pPr>
            <a:lvl7pPr lvl="6" algn="r">
              <a:buNone/>
              <a:defRPr sz="1300">
                <a:solidFill>
                  <a:schemeClr val="dk2"/>
                </a:solidFill>
                <a:latin typeface="Montserrat"/>
                <a:ea typeface="Montserrat"/>
                <a:cs typeface="Montserrat"/>
                <a:sym typeface="Montserrat"/>
              </a:defRPr>
            </a:lvl7pPr>
            <a:lvl8pPr lvl="7" algn="r">
              <a:buNone/>
              <a:defRPr sz="1300">
                <a:solidFill>
                  <a:schemeClr val="dk2"/>
                </a:solidFill>
                <a:latin typeface="Montserrat"/>
                <a:ea typeface="Montserrat"/>
                <a:cs typeface="Montserrat"/>
                <a:sym typeface="Montserrat"/>
              </a:defRPr>
            </a:lvl8pPr>
            <a:lvl9pPr lvl="8" algn="r">
              <a:buNone/>
              <a:defRPr sz="13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28"/>
          <p:cNvSpPr txBox="1"/>
          <p:nvPr>
            <p:ph type="ctrTitle"/>
          </p:nvPr>
        </p:nvSpPr>
        <p:spPr>
          <a:xfrm>
            <a:off x="1643858" y="625200"/>
            <a:ext cx="6770700" cy="205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accent1"/>
                </a:solidFill>
              </a:rPr>
              <a:t>Chicago </a:t>
            </a:r>
            <a:r>
              <a:rPr lang="en" sz="3000">
                <a:solidFill>
                  <a:schemeClr val="accent1"/>
                </a:solidFill>
              </a:rPr>
              <a:t>Transportation</a:t>
            </a:r>
            <a:r>
              <a:rPr lang="en" sz="3000">
                <a:solidFill>
                  <a:schemeClr val="accent1"/>
                </a:solidFill>
              </a:rPr>
              <a:t> </a:t>
            </a:r>
            <a:r>
              <a:rPr lang="en" sz="3000">
                <a:solidFill>
                  <a:schemeClr val="accent1"/>
                </a:solidFill>
              </a:rPr>
              <a:t>Network</a:t>
            </a:r>
            <a:r>
              <a:rPr lang="en" sz="3000">
                <a:solidFill>
                  <a:schemeClr val="accent1"/>
                </a:solidFill>
              </a:rPr>
              <a:t> Providers (TNPs) &amp; Taxis: </a:t>
            </a:r>
            <a:r>
              <a:rPr b="0" lang="en" sz="3000">
                <a:solidFill>
                  <a:schemeClr val="accent1"/>
                </a:solidFill>
              </a:rPr>
              <a:t>Travel Demand Forecasting</a:t>
            </a:r>
            <a:endParaRPr b="0" sz="3000">
              <a:solidFill>
                <a:schemeClr val="accent1"/>
              </a:solidFill>
            </a:endParaRPr>
          </a:p>
        </p:txBody>
      </p:sp>
      <p:sp>
        <p:nvSpPr>
          <p:cNvPr id="209" name="Google Shape;209;p28"/>
          <p:cNvSpPr txBox="1"/>
          <p:nvPr>
            <p:ph idx="1" type="subTitle"/>
          </p:nvPr>
        </p:nvSpPr>
        <p:spPr>
          <a:xfrm>
            <a:off x="0" y="4586400"/>
            <a:ext cx="9144000" cy="55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QST 843 - Team 8:</a:t>
            </a:r>
            <a:r>
              <a:rPr lang="en" sz="1200"/>
              <a:t> Olivia Chen, Albert Dahlberg, Pratik Mahajan, Brendan Wilcox, Roxy Zhang</a:t>
            </a:r>
            <a:endParaRPr sz="1200"/>
          </a:p>
        </p:txBody>
      </p:sp>
      <p:pic>
        <p:nvPicPr>
          <p:cNvPr id="210" name="Google Shape;210;p28"/>
          <p:cNvPicPr preferRelativeResize="0"/>
          <p:nvPr/>
        </p:nvPicPr>
        <p:blipFill>
          <a:blip r:embed="rId3">
            <a:alphaModFix/>
          </a:blip>
          <a:stretch>
            <a:fillRect/>
          </a:stretch>
        </p:blipFill>
        <p:spPr>
          <a:xfrm>
            <a:off x="2954963" y="2957146"/>
            <a:ext cx="1371602" cy="480060"/>
          </a:xfrm>
          <a:prstGeom prst="rect">
            <a:avLst/>
          </a:prstGeom>
          <a:noFill/>
          <a:ln>
            <a:noFill/>
          </a:ln>
        </p:spPr>
      </p:pic>
      <p:pic>
        <p:nvPicPr>
          <p:cNvPr id="211" name="Google Shape;211;p28"/>
          <p:cNvPicPr preferRelativeResize="0"/>
          <p:nvPr/>
        </p:nvPicPr>
        <p:blipFill>
          <a:blip r:embed="rId4">
            <a:alphaModFix/>
          </a:blip>
          <a:stretch>
            <a:fillRect/>
          </a:stretch>
        </p:blipFill>
        <p:spPr>
          <a:xfrm>
            <a:off x="3183585" y="3564138"/>
            <a:ext cx="914400" cy="621792"/>
          </a:xfrm>
          <a:prstGeom prst="rect">
            <a:avLst/>
          </a:prstGeom>
          <a:noFill/>
          <a:ln>
            <a:noFill/>
          </a:ln>
        </p:spPr>
      </p:pic>
      <p:pic>
        <p:nvPicPr>
          <p:cNvPr id="212" name="Google Shape;212;p28"/>
          <p:cNvPicPr preferRelativeResize="0"/>
          <p:nvPr/>
        </p:nvPicPr>
        <p:blipFill>
          <a:blip r:embed="rId5">
            <a:alphaModFix/>
          </a:blip>
          <a:stretch>
            <a:fillRect/>
          </a:stretch>
        </p:blipFill>
        <p:spPr>
          <a:xfrm>
            <a:off x="4585214" y="2716238"/>
            <a:ext cx="1603800" cy="1603800"/>
          </a:xfrm>
          <a:prstGeom prst="rect">
            <a:avLst/>
          </a:prstGeom>
          <a:noFill/>
          <a:ln>
            <a:noFill/>
          </a:ln>
        </p:spPr>
      </p:pic>
      <p:cxnSp>
        <p:nvCxnSpPr>
          <p:cNvPr id="213" name="Google Shape;213;p28"/>
          <p:cNvCxnSpPr/>
          <p:nvPr/>
        </p:nvCxnSpPr>
        <p:spPr>
          <a:xfrm flipH="1">
            <a:off x="4454388" y="3063733"/>
            <a:ext cx="3000" cy="1039500"/>
          </a:xfrm>
          <a:prstGeom prst="straightConnector1">
            <a:avLst/>
          </a:prstGeom>
          <a:noFill/>
          <a:ln cap="flat" cmpd="sng" w="19050">
            <a:solidFill>
              <a:srgbClr val="D9D9D9"/>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0" y="0"/>
            <a:ext cx="770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Table of Contents</a:t>
            </a:r>
            <a:endParaRPr sz="2200"/>
          </a:p>
        </p:txBody>
      </p:sp>
      <p:sp>
        <p:nvSpPr>
          <p:cNvPr id="219" name="Google Shape;219;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220" name="Google Shape;220;p29"/>
          <p:cNvCxnSpPr/>
          <p:nvPr/>
        </p:nvCxnSpPr>
        <p:spPr>
          <a:xfrm>
            <a:off x="281350" y="3030486"/>
            <a:ext cx="0" cy="1185000"/>
          </a:xfrm>
          <a:prstGeom prst="straightConnector1">
            <a:avLst/>
          </a:prstGeom>
          <a:noFill/>
          <a:ln cap="flat" cmpd="sng" w="28575">
            <a:solidFill>
              <a:schemeClr val="accent1"/>
            </a:solidFill>
            <a:prstDash val="solid"/>
            <a:round/>
            <a:headEnd len="med" w="med" type="none"/>
            <a:tailEnd len="med" w="med" type="none"/>
          </a:ln>
        </p:spPr>
      </p:cxnSp>
      <p:cxnSp>
        <p:nvCxnSpPr>
          <p:cNvPr id="221" name="Google Shape;221;p29"/>
          <p:cNvCxnSpPr/>
          <p:nvPr/>
        </p:nvCxnSpPr>
        <p:spPr>
          <a:xfrm>
            <a:off x="2466453" y="3017342"/>
            <a:ext cx="0" cy="1198500"/>
          </a:xfrm>
          <a:prstGeom prst="straightConnector1">
            <a:avLst/>
          </a:prstGeom>
          <a:noFill/>
          <a:ln cap="flat" cmpd="sng" w="28575">
            <a:solidFill>
              <a:schemeClr val="accent1"/>
            </a:solidFill>
            <a:prstDash val="solid"/>
            <a:round/>
            <a:headEnd len="med" w="med" type="none"/>
            <a:tailEnd len="med" w="med" type="none"/>
          </a:ln>
        </p:spPr>
      </p:cxnSp>
      <p:cxnSp>
        <p:nvCxnSpPr>
          <p:cNvPr id="222" name="Google Shape;222;p29"/>
          <p:cNvCxnSpPr/>
          <p:nvPr/>
        </p:nvCxnSpPr>
        <p:spPr>
          <a:xfrm>
            <a:off x="281350" y="1189093"/>
            <a:ext cx="0" cy="1184400"/>
          </a:xfrm>
          <a:prstGeom prst="straightConnector1">
            <a:avLst/>
          </a:prstGeom>
          <a:noFill/>
          <a:ln cap="flat" cmpd="sng" w="28575">
            <a:solidFill>
              <a:schemeClr val="accent1"/>
            </a:solidFill>
            <a:prstDash val="solid"/>
            <a:round/>
            <a:headEnd len="med" w="med" type="none"/>
            <a:tailEnd len="med" w="med" type="none"/>
          </a:ln>
        </p:spPr>
      </p:cxnSp>
      <p:cxnSp>
        <p:nvCxnSpPr>
          <p:cNvPr id="223" name="Google Shape;223;p29"/>
          <p:cNvCxnSpPr/>
          <p:nvPr/>
        </p:nvCxnSpPr>
        <p:spPr>
          <a:xfrm>
            <a:off x="2466453" y="1175952"/>
            <a:ext cx="0" cy="1198500"/>
          </a:xfrm>
          <a:prstGeom prst="straightConnector1">
            <a:avLst/>
          </a:prstGeom>
          <a:noFill/>
          <a:ln cap="flat" cmpd="sng" w="28575">
            <a:solidFill>
              <a:schemeClr val="accent1"/>
            </a:solidFill>
            <a:prstDash val="solid"/>
            <a:round/>
            <a:headEnd len="med" w="med" type="none"/>
            <a:tailEnd len="med" w="med" type="none"/>
          </a:ln>
        </p:spPr>
      </p:cxnSp>
      <p:cxnSp>
        <p:nvCxnSpPr>
          <p:cNvPr id="224" name="Google Shape;224;p29"/>
          <p:cNvCxnSpPr/>
          <p:nvPr/>
        </p:nvCxnSpPr>
        <p:spPr>
          <a:xfrm>
            <a:off x="4647660" y="1176961"/>
            <a:ext cx="0" cy="119730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29"/>
          <p:cNvCxnSpPr/>
          <p:nvPr/>
        </p:nvCxnSpPr>
        <p:spPr>
          <a:xfrm>
            <a:off x="6824745" y="1180942"/>
            <a:ext cx="0" cy="1193100"/>
          </a:xfrm>
          <a:prstGeom prst="straightConnector1">
            <a:avLst/>
          </a:prstGeom>
          <a:noFill/>
          <a:ln cap="flat" cmpd="sng" w="28575">
            <a:solidFill>
              <a:schemeClr val="accent1"/>
            </a:solidFill>
            <a:prstDash val="solid"/>
            <a:round/>
            <a:headEnd len="med" w="med" type="none"/>
            <a:tailEnd len="med" w="med" type="none"/>
          </a:ln>
        </p:spPr>
      </p:cxnSp>
      <p:sp>
        <p:nvSpPr>
          <p:cNvPr id="226" name="Google Shape;226;p29"/>
          <p:cNvSpPr txBox="1"/>
          <p:nvPr/>
        </p:nvSpPr>
        <p:spPr>
          <a:xfrm>
            <a:off x="6861052" y="861700"/>
            <a:ext cx="20016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04</a:t>
            </a:r>
            <a:endParaRPr b="1" sz="2400">
              <a:solidFill>
                <a:schemeClr val="accent1"/>
              </a:solidFill>
              <a:latin typeface="Montserrat"/>
              <a:ea typeface="Montserrat"/>
              <a:cs typeface="Montserrat"/>
              <a:sym typeface="Montserrat"/>
            </a:endParaRPr>
          </a:p>
        </p:txBody>
      </p:sp>
      <p:sp>
        <p:nvSpPr>
          <p:cNvPr id="227" name="Google Shape;227;p29"/>
          <p:cNvSpPr txBox="1"/>
          <p:nvPr/>
        </p:nvSpPr>
        <p:spPr>
          <a:xfrm>
            <a:off x="4686537" y="861700"/>
            <a:ext cx="20910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03</a:t>
            </a:r>
            <a:endParaRPr b="1" sz="2400">
              <a:solidFill>
                <a:schemeClr val="accent1"/>
              </a:solidFill>
              <a:latin typeface="Montserrat"/>
              <a:ea typeface="Montserrat"/>
              <a:cs typeface="Montserrat"/>
              <a:sym typeface="Montserrat"/>
            </a:endParaRPr>
          </a:p>
        </p:txBody>
      </p:sp>
      <p:sp>
        <p:nvSpPr>
          <p:cNvPr id="228" name="Google Shape;228;p29"/>
          <p:cNvSpPr txBox="1"/>
          <p:nvPr/>
        </p:nvSpPr>
        <p:spPr>
          <a:xfrm>
            <a:off x="2505403" y="861700"/>
            <a:ext cx="19989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02</a:t>
            </a:r>
            <a:endParaRPr b="1" sz="2400">
              <a:solidFill>
                <a:schemeClr val="accent1"/>
              </a:solidFill>
              <a:latin typeface="Montserrat"/>
              <a:ea typeface="Montserrat"/>
              <a:cs typeface="Montserrat"/>
              <a:sym typeface="Montserrat"/>
            </a:endParaRPr>
          </a:p>
        </p:txBody>
      </p:sp>
      <p:sp>
        <p:nvSpPr>
          <p:cNvPr id="229" name="Google Shape;229;p29"/>
          <p:cNvSpPr txBox="1"/>
          <p:nvPr/>
        </p:nvSpPr>
        <p:spPr>
          <a:xfrm>
            <a:off x="2505403" y="2694168"/>
            <a:ext cx="19989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06</a:t>
            </a:r>
            <a:endParaRPr b="1" sz="2400">
              <a:solidFill>
                <a:schemeClr val="accent1"/>
              </a:solidFill>
              <a:latin typeface="Montserrat"/>
              <a:ea typeface="Montserrat"/>
              <a:cs typeface="Montserrat"/>
              <a:sym typeface="Montserrat"/>
            </a:endParaRPr>
          </a:p>
        </p:txBody>
      </p:sp>
      <p:sp>
        <p:nvSpPr>
          <p:cNvPr id="230" name="Google Shape;230;p29"/>
          <p:cNvSpPr txBox="1"/>
          <p:nvPr/>
        </p:nvSpPr>
        <p:spPr>
          <a:xfrm>
            <a:off x="322863" y="861700"/>
            <a:ext cx="19989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01</a:t>
            </a:r>
            <a:endParaRPr b="1" sz="2400">
              <a:solidFill>
                <a:schemeClr val="accent1"/>
              </a:solidFill>
              <a:latin typeface="Montserrat"/>
              <a:ea typeface="Montserrat"/>
              <a:cs typeface="Montserrat"/>
              <a:sym typeface="Montserrat"/>
            </a:endParaRPr>
          </a:p>
        </p:txBody>
      </p:sp>
      <p:sp>
        <p:nvSpPr>
          <p:cNvPr id="231" name="Google Shape;231;p29"/>
          <p:cNvSpPr txBox="1"/>
          <p:nvPr/>
        </p:nvSpPr>
        <p:spPr>
          <a:xfrm>
            <a:off x="322863" y="2694168"/>
            <a:ext cx="19989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05</a:t>
            </a:r>
            <a:endParaRPr b="1" sz="2400">
              <a:solidFill>
                <a:schemeClr val="accent1"/>
              </a:solidFill>
              <a:latin typeface="Montserrat"/>
              <a:ea typeface="Montserrat"/>
              <a:cs typeface="Montserrat"/>
              <a:sym typeface="Montserrat"/>
            </a:endParaRPr>
          </a:p>
        </p:txBody>
      </p:sp>
      <p:sp>
        <p:nvSpPr>
          <p:cNvPr id="232" name="Google Shape;232;p29"/>
          <p:cNvSpPr txBox="1"/>
          <p:nvPr/>
        </p:nvSpPr>
        <p:spPr>
          <a:xfrm>
            <a:off x="281350" y="1909613"/>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Project Overview</a:t>
            </a:r>
            <a:endParaRPr b="1" sz="1375">
              <a:solidFill>
                <a:schemeClr val="accent1"/>
              </a:solidFill>
              <a:latin typeface="Montserrat"/>
              <a:ea typeface="Montserrat"/>
              <a:cs typeface="Montserrat"/>
              <a:sym typeface="Montserrat"/>
            </a:endParaRPr>
          </a:p>
        </p:txBody>
      </p:sp>
      <p:sp>
        <p:nvSpPr>
          <p:cNvPr id="233" name="Google Shape;233;p29"/>
          <p:cNvSpPr txBox="1"/>
          <p:nvPr/>
        </p:nvSpPr>
        <p:spPr>
          <a:xfrm>
            <a:off x="2466463" y="1877934"/>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Data Description</a:t>
            </a:r>
            <a:endParaRPr b="1" sz="1375">
              <a:solidFill>
                <a:schemeClr val="accent1"/>
              </a:solidFill>
              <a:latin typeface="Montserrat"/>
              <a:ea typeface="Montserrat"/>
              <a:cs typeface="Montserrat"/>
              <a:sym typeface="Montserrat"/>
            </a:endParaRPr>
          </a:p>
        </p:txBody>
      </p:sp>
      <p:sp>
        <p:nvSpPr>
          <p:cNvPr id="234" name="Google Shape;234;p29"/>
          <p:cNvSpPr txBox="1"/>
          <p:nvPr/>
        </p:nvSpPr>
        <p:spPr>
          <a:xfrm>
            <a:off x="4655934" y="1877934"/>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Machine Learning</a:t>
            </a:r>
            <a:endParaRPr b="1" sz="1375">
              <a:solidFill>
                <a:schemeClr val="accent1"/>
              </a:solidFill>
              <a:latin typeface="Montserrat"/>
              <a:ea typeface="Montserrat"/>
              <a:cs typeface="Montserrat"/>
              <a:sym typeface="Montserrat"/>
            </a:endParaRPr>
          </a:p>
        </p:txBody>
      </p:sp>
      <p:sp>
        <p:nvSpPr>
          <p:cNvPr id="235" name="Google Shape;235;p29"/>
          <p:cNvSpPr txBox="1"/>
          <p:nvPr/>
        </p:nvSpPr>
        <p:spPr>
          <a:xfrm>
            <a:off x="6824738" y="1877934"/>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Findings</a:t>
            </a:r>
            <a:endParaRPr b="1" sz="1375">
              <a:solidFill>
                <a:schemeClr val="accent1"/>
              </a:solidFill>
              <a:latin typeface="Montserrat"/>
              <a:ea typeface="Montserrat"/>
              <a:cs typeface="Montserrat"/>
              <a:sym typeface="Montserrat"/>
            </a:endParaRPr>
          </a:p>
        </p:txBody>
      </p:sp>
      <p:sp>
        <p:nvSpPr>
          <p:cNvPr id="236" name="Google Shape;236;p29"/>
          <p:cNvSpPr txBox="1"/>
          <p:nvPr/>
        </p:nvSpPr>
        <p:spPr>
          <a:xfrm>
            <a:off x="281350" y="3756806"/>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Recommendations</a:t>
            </a:r>
            <a:endParaRPr b="1" sz="1375">
              <a:solidFill>
                <a:schemeClr val="accent1"/>
              </a:solidFill>
              <a:latin typeface="Montserrat"/>
              <a:ea typeface="Montserrat"/>
              <a:cs typeface="Montserrat"/>
              <a:sym typeface="Montserrat"/>
            </a:endParaRPr>
          </a:p>
        </p:txBody>
      </p:sp>
      <p:sp>
        <p:nvSpPr>
          <p:cNvPr id="237" name="Google Shape;237;p29"/>
          <p:cNvSpPr txBox="1"/>
          <p:nvPr/>
        </p:nvSpPr>
        <p:spPr>
          <a:xfrm>
            <a:off x="2507441" y="3756806"/>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Challenges &amp; Limitations</a:t>
            </a:r>
            <a:endParaRPr b="1" sz="1375">
              <a:solidFill>
                <a:schemeClr val="accent1"/>
              </a:solidFill>
              <a:latin typeface="Montserrat"/>
              <a:ea typeface="Montserrat"/>
              <a:cs typeface="Montserrat"/>
              <a:sym typeface="Montserrat"/>
            </a:endParaRPr>
          </a:p>
        </p:txBody>
      </p:sp>
      <p:cxnSp>
        <p:nvCxnSpPr>
          <p:cNvPr id="238" name="Google Shape;238;p29"/>
          <p:cNvCxnSpPr/>
          <p:nvPr/>
        </p:nvCxnSpPr>
        <p:spPr>
          <a:xfrm>
            <a:off x="4686923" y="3030486"/>
            <a:ext cx="0" cy="1185000"/>
          </a:xfrm>
          <a:prstGeom prst="straightConnector1">
            <a:avLst/>
          </a:prstGeom>
          <a:noFill/>
          <a:ln cap="flat" cmpd="sng" w="28575">
            <a:solidFill>
              <a:schemeClr val="accent1"/>
            </a:solidFill>
            <a:prstDash val="solid"/>
            <a:round/>
            <a:headEnd len="med" w="med" type="none"/>
            <a:tailEnd len="med" w="med" type="none"/>
          </a:ln>
        </p:spPr>
      </p:cxnSp>
      <p:sp>
        <p:nvSpPr>
          <p:cNvPr id="239" name="Google Shape;239;p29"/>
          <p:cNvSpPr txBox="1"/>
          <p:nvPr/>
        </p:nvSpPr>
        <p:spPr>
          <a:xfrm>
            <a:off x="4729455" y="2694168"/>
            <a:ext cx="1998900" cy="922500"/>
          </a:xfrm>
          <a:prstGeom prst="rect">
            <a:avLst/>
          </a:prstGeom>
          <a:noFill/>
          <a:ln>
            <a:noFill/>
          </a:ln>
        </p:spPr>
        <p:txBody>
          <a:bodyPr anchorCtr="0" anchor="b" bIns="100575" lIns="100575" spcFirstLastPara="1" rIns="100575" wrap="square" tIns="100575">
            <a:normAutofit/>
          </a:bodyPr>
          <a:lstStyle/>
          <a:p>
            <a:pPr indent="0" lvl="0" marL="0" rtl="0" algn="l">
              <a:spcBef>
                <a:spcPts val="0"/>
              </a:spcBef>
              <a:spcAft>
                <a:spcPts val="0"/>
              </a:spcAft>
              <a:buNone/>
            </a:pPr>
            <a:r>
              <a:rPr b="1" lang="en" sz="2400">
                <a:solidFill>
                  <a:schemeClr val="accent1"/>
                </a:solidFill>
                <a:latin typeface="Montserrat"/>
                <a:ea typeface="Montserrat"/>
                <a:cs typeface="Montserrat"/>
                <a:sym typeface="Montserrat"/>
              </a:rPr>
              <a:t>07</a:t>
            </a:r>
            <a:endParaRPr b="1" sz="2400">
              <a:solidFill>
                <a:schemeClr val="accent1"/>
              </a:solidFill>
              <a:latin typeface="Montserrat"/>
              <a:ea typeface="Montserrat"/>
              <a:cs typeface="Montserrat"/>
              <a:sym typeface="Montserrat"/>
            </a:endParaRPr>
          </a:p>
        </p:txBody>
      </p:sp>
      <p:sp>
        <p:nvSpPr>
          <p:cNvPr id="240" name="Google Shape;240;p29"/>
          <p:cNvSpPr txBox="1"/>
          <p:nvPr/>
        </p:nvSpPr>
        <p:spPr>
          <a:xfrm>
            <a:off x="4687942" y="3756806"/>
            <a:ext cx="1998900" cy="525000"/>
          </a:xfrm>
          <a:prstGeom prst="rect">
            <a:avLst/>
          </a:prstGeom>
          <a:noFill/>
          <a:ln>
            <a:noFill/>
          </a:ln>
        </p:spPr>
        <p:txBody>
          <a:bodyPr anchorCtr="0" anchor="ctr" bIns="100575" lIns="100575" spcFirstLastPara="1" rIns="100575" wrap="square" tIns="100575">
            <a:noAutofit/>
          </a:bodyPr>
          <a:lstStyle/>
          <a:p>
            <a:pPr indent="0" lvl="0" marL="0" rtl="0" algn="l">
              <a:spcBef>
                <a:spcPts val="0"/>
              </a:spcBef>
              <a:spcAft>
                <a:spcPts val="0"/>
              </a:spcAft>
              <a:buNone/>
            </a:pPr>
            <a:r>
              <a:rPr b="1" lang="en" sz="1375">
                <a:solidFill>
                  <a:schemeClr val="accent1"/>
                </a:solidFill>
                <a:latin typeface="Montserrat"/>
                <a:ea typeface="Montserrat"/>
                <a:cs typeface="Montserrat"/>
                <a:sym typeface="Montserrat"/>
              </a:rPr>
              <a:t>Q&amp;A </a:t>
            </a:r>
            <a:endParaRPr b="1" sz="1375">
              <a:solidFill>
                <a:schemeClr val="accen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Project Overview</a:t>
            </a:r>
            <a:endParaRPr sz="2200"/>
          </a:p>
        </p:txBody>
      </p:sp>
      <p:sp>
        <p:nvSpPr>
          <p:cNvPr id="246" name="Google Shape;246;p30"/>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grpSp>
        <p:nvGrpSpPr>
          <p:cNvPr id="247" name="Google Shape;247;p30"/>
          <p:cNvGrpSpPr/>
          <p:nvPr/>
        </p:nvGrpSpPr>
        <p:grpSpPr>
          <a:xfrm>
            <a:off x="556012" y="761674"/>
            <a:ext cx="8031973" cy="3620171"/>
            <a:chOff x="361975" y="755938"/>
            <a:chExt cx="8031973" cy="2852100"/>
          </a:xfrm>
        </p:grpSpPr>
        <p:sp>
          <p:nvSpPr>
            <p:cNvPr id="248" name="Google Shape;248;p30"/>
            <p:cNvSpPr/>
            <p:nvPr/>
          </p:nvSpPr>
          <p:spPr>
            <a:xfrm>
              <a:off x="361975" y="755938"/>
              <a:ext cx="2317500" cy="777300"/>
            </a:xfrm>
            <a:prstGeom prst="homePlate">
              <a:avLst>
                <a:gd fmla="val 50000" name="adj"/>
              </a:avLst>
            </a:prstGeom>
            <a:solidFill>
              <a:schemeClr val="accent1"/>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91440" lvl="0" marL="182880" rtl="0" algn="ctr">
                <a:spcBef>
                  <a:spcPts val="0"/>
                </a:spcBef>
                <a:spcAft>
                  <a:spcPts val="0"/>
                </a:spcAft>
                <a:buNone/>
              </a:pPr>
              <a:r>
                <a:rPr b="1" lang="en" sz="1800">
                  <a:solidFill>
                    <a:srgbClr val="FFFFFF"/>
                  </a:solidFill>
                  <a:latin typeface="Montserrat"/>
                  <a:ea typeface="Montserrat"/>
                  <a:cs typeface="Montserrat"/>
                  <a:sym typeface="Montserrat"/>
                </a:rPr>
                <a:t>Problem Definition</a:t>
              </a:r>
              <a:endParaRPr b="1" sz="1800">
                <a:solidFill>
                  <a:srgbClr val="FFFFFF"/>
                </a:solidFill>
                <a:latin typeface="Montserrat"/>
                <a:ea typeface="Montserrat"/>
                <a:cs typeface="Montserrat"/>
                <a:sym typeface="Montserrat"/>
              </a:endParaRPr>
            </a:p>
          </p:txBody>
        </p:sp>
        <p:sp>
          <p:nvSpPr>
            <p:cNvPr id="249" name="Google Shape;249;p30"/>
            <p:cNvSpPr/>
            <p:nvPr/>
          </p:nvSpPr>
          <p:spPr>
            <a:xfrm>
              <a:off x="2678948" y="755938"/>
              <a:ext cx="5715000" cy="783600"/>
            </a:xfrm>
            <a:prstGeom prst="chevron">
              <a:avLst>
                <a:gd fmla="val 50000" name="adj"/>
              </a:avLst>
            </a:prstGeom>
            <a:solidFill>
              <a:srgbClr val="FFFFFF"/>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161290" lvl="0" marL="182880" rtl="0" algn="l">
                <a:lnSpc>
                  <a:spcPct val="85000"/>
                </a:lnSpc>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Riders lack transparency on where rides will be cheapest and fastest.</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Drivers cannot easily identify where profitable demand will occur.</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200"/>
                </a:spcAft>
                <a:buClr>
                  <a:schemeClr val="dk1"/>
                </a:buClr>
                <a:buSzPts val="1100"/>
                <a:buFont typeface="Montserrat"/>
                <a:buChar char="●"/>
              </a:pPr>
              <a:r>
                <a:rPr lang="en" sz="1100">
                  <a:solidFill>
                    <a:schemeClr val="dk1"/>
                  </a:solidFill>
                  <a:latin typeface="Montserrat"/>
                  <a:ea typeface="Montserrat"/>
                  <a:cs typeface="Montserrat"/>
                  <a:sym typeface="Montserrat"/>
                </a:rPr>
                <a:t>Current ecosystem is inefficient despite abundant TNP activity.</a:t>
              </a:r>
              <a:endParaRPr sz="1100">
                <a:solidFill>
                  <a:schemeClr val="accent1"/>
                </a:solidFill>
                <a:latin typeface="Montserrat"/>
                <a:ea typeface="Montserrat"/>
                <a:cs typeface="Montserrat"/>
                <a:sym typeface="Montserrat"/>
              </a:endParaRPr>
            </a:p>
          </p:txBody>
        </p:sp>
        <p:sp>
          <p:nvSpPr>
            <p:cNvPr id="250" name="Google Shape;250;p30"/>
            <p:cNvSpPr/>
            <p:nvPr/>
          </p:nvSpPr>
          <p:spPr>
            <a:xfrm>
              <a:off x="361975" y="1790188"/>
              <a:ext cx="2317500" cy="777300"/>
            </a:xfrm>
            <a:prstGeom prst="homePlate">
              <a:avLst>
                <a:gd fmla="val 50000" name="adj"/>
              </a:avLst>
            </a:prstGeom>
            <a:solidFill>
              <a:schemeClr val="accent1"/>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91440" lvl="0" marL="182880" rtl="0" algn="ctr">
                <a:spcBef>
                  <a:spcPts val="0"/>
                </a:spcBef>
                <a:spcAft>
                  <a:spcPts val="0"/>
                </a:spcAft>
                <a:buNone/>
              </a:pPr>
              <a:r>
                <a:rPr b="1" lang="en" sz="1800">
                  <a:solidFill>
                    <a:srgbClr val="FFFFFF"/>
                  </a:solidFill>
                  <a:latin typeface="Montserrat"/>
                  <a:ea typeface="Montserrat"/>
                  <a:cs typeface="Montserrat"/>
                  <a:sym typeface="Montserrat"/>
                </a:rPr>
                <a:t>Motivation</a:t>
              </a:r>
              <a:endParaRPr b="1" sz="1800">
                <a:solidFill>
                  <a:srgbClr val="FFFFFF"/>
                </a:solidFill>
                <a:latin typeface="Montserrat"/>
                <a:ea typeface="Montserrat"/>
                <a:cs typeface="Montserrat"/>
                <a:sym typeface="Montserrat"/>
              </a:endParaRPr>
            </a:p>
          </p:txBody>
        </p:sp>
        <p:sp>
          <p:nvSpPr>
            <p:cNvPr id="251" name="Google Shape;251;p30"/>
            <p:cNvSpPr/>
            <p:nvPr/>
          </p:nvSpPr>
          <p:spPr>
            <a:xfrm>
              <a:off x="2678948" y="1790188"/>
              <a:ext cx="5715000" cy="783600"/>
            </a:xfrm>
            <a:prstGeom prst="chevron">
              <a:avLst>
                <a:gd fmla="val 50000" name="adj"/>
              </a:avLst>
            </a:prstGeom>
            <a:solidFill>
              <a:srgbClr val="FFFFFF"/>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161290" lvl="0" marL="182880" rtl="0" algn="l">
                <a:lnSpc>
                  <a:spcPct val="85000"/>
                </a:lnSpc>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TNP dominance leaves riders and drivers with inconsistent outcomes.</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Riders face surge pricing and long waits; drivers see shrinking margins.</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200"/>
                </a:spcAft>
                <a:buClr>
                  <a:schemeClr val="dk1"/>
                </a:buClr>
                <a:buSzPts val="1100"/>
                <a:buFont typeface="Montserrat"/>
                <a:buChar char="●"/>
              </a:pPr>
              <a:r>
                <a:rPr lang="en" sz="1100">
                  <a:solidFill>
                    <a:schemeClr val="dk1"/>
                  </a:solidFill>
                  <a:latin typeface="Montserrat"/>
                  <a:ea typeface="Montserrat"/>
                  <a:cs typeface="Montserrat"/>
                  <a:sym typeface="Montserrat"/>
                </a:rPr>
                <a:t>Better insight into demand can help both groups make smarter decisions.</a:t>
              </a:r>
              <a:endParaRPr sz="1100">
                <a:solidFill>
                  <a:schemeClr val="accent1"/>
                </a:solidFill>
                <a:latin typeface="Montserrat"/>
                <a:ea typeface="Montserrat"/>
                <a:cs typeface="Montserrat"/>
                <a:sym typeface="Montserrat"/>
              </a:endParaRPr>
            </a:p>
          </p:txBody>
        </p:sp>
        <p:sp>
          <p:nvSpPr>
            <p:cNvPr id="252" name="Google Shape;252;p30"/>
            <p:cNvSpPr/>
            <p:nvPr/>
          </p:nvSpPr>
          <p:spPr>
            <a:xfrm>
              <a:off x="361975" y="2824438"/>
              <a:ext cx="2317500" cy="777300"/>
            </a:xfrm>
            <a:prstGeom prst="homePlate">
              <a:avLst>
                <a:gd fmla="val 50000" name="adj"/>
              </a:avLst>
            </a:prstGeom>
            <a:solidFill>
              <a:schemeClr val="accent1"/>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91440" lvl="0" marL="182880" rtl="0" algn="ctr">
                <a:spcBef>
                  <a:spcPts val="0"/>
                </a:spcBef>
                <a:spcAft>
                  <a:spcPts val="0"/>
                </a:spcAft>
                <a:buNone/>
              </a:pPr>
              <a:r>
                <a:rPr b="1" lang="en" sz="1800">
                  <a:solidFill>
                    <a:srgbClr val="FFFFFF"/>
                  </a:solidFill>
                  <a:latin typeface="Montserrat"/>
                  <a:ea typeface="Montserrat"/>
                  <a:cs typeface="Montserrat"/>
                  <a:sym typeface="Montserrat"/>
                </a:rPr>
                <a:t>Proposed Solution</a:t>
              </a:r>
              <a:endParaRPr b="1" sz="1800">
                <a:solidFill>
                  <a:srgbClr val="FFFFFF"/>
                </a:solidFill>
                <a:latin typeface="Montserrat"/>
                <a:ea typeface="Montserrat"/>
                <a:cs typeface="Montserrat"/>
                <a:sym typeface="Montserrat"/>
              </a:endParaRPr>
            </a:p>
          </p:txBody>
        </p:sp>
        <p:sp>
          <p:nvSpPr>
            <p:cNvPr id="253" name="Google Shape;253;p30"/>
            <p:cNvSpPr/>
            <p:nvPr/>
          </p:nvSpPr>
          <p:spPr>
            <a:xfrm>
              <a:off x="2678948" y="2824438"/>
              <a:ext cx="5715000" cy="783600"/>
            </a:xfrm>
            <a:prstGeom prst="chevron">
              <a:avLst>
                <a:gd fmla="val 50000" name="adj"/>
              </a:avLst>
            </a:prstGeom>
            <a:solidFill>
              <a:srgbClr val="FFFFFF"/>
            </a:solidFill>
            <a:ln cap="flat" cmpd="sng" w="28575">
              <a:solidFill>
                <a:schemeClr val="accent1"/>
              </a:solidFill>
              <a:prstDash val="solid"/>
              <a:round/>
              <a:headEnd len="sm" w="sm" type="none"/>
              <a:tailEnd len="sm" w="sm" type="none"/>
            </a:ln>
          </p:spPr>
          <p:txBody>
            <a:bodyPr anchorCtr="0" anchor="ctr" bIns="45700" lIns="45700" spcFirstLastPara="1" rIns="45700" wrap="square" tIns="45700">
              <a:noAutofit/>
            </a:bodyPr>
            <a:lstStyle/>
            <a:p>
              <a:pPr indent="-161290" lvl="0" marL="182880" rtl="0" algn="l">
                <a:lnSpc>
                  <a:spcPct val="85000"/>
                </a:lnSpc>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Build a unified demand-forecasting system to guide riders and drivers in real time.</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Use predictions to help drivers position themselves in high-volume areas, improving prices and access.</a:t>
              </a:r>
              <a:endParaRPr sz="1100">
                <a:solidFill>
                  <a:schemeClr val="dk1"/>
                </a:solidFill>
                <a:latin typeface="Montserrat"/>
                <a:ea typeface="Montserrat"/>
                <a:cs typeface="Montserrat"/>
                <a:sym typeface="Montserrat"/>
              </a:endParaRPr>
            </a:p>
            <a:p>
              <a:pPr indent="-161290" lvl="0" marL="182880" rtl="0" algn="l">
                <a:lnSpc>
                  <a:spcPct val="85000"/>
                </a:lnSpc>
                <a:spcBef>
                  <a:spcPts val="200"/>
                </a:spcBef>
                <a:spcAft>
                  <a:spcPts val="200"/>
                </a:spcAft>
                <a:buClr>
                  <a:schemeClr val="dk1"/>
                </a:buClr>
                <a:buSzPts val="1100"/>
                <a:buFont typeface="Montserrat"/>
                <a:buChar char="●"/>
              </a:pPr>
              <a:r>
                <a:rPr lang="en" sz="1100">
                  <a:solidFill>
                    <a:schemeClr val="dk1"/>
                  </a:solidFill>
                  <a:latin typeface="Montserrat"/>
                  <a:ea typeface="Montserrat"/>
                  <a:cs typeface="Montserrat"/>
                  <a:sym typeface="Montserrat"/>
                </a:rPr>
                <a:t>Identify emerging low-demand neighborhoods where drivers can capture new value.</a:t>
              </a:r>
              <a:endParaRPr sz="1100">
                <a:solidFill>
                  <a:schemeClr val="dk1"/>
                </a:solidFill>
                <a:latin typeface="Montserrat"/>
                <a:ea typeface="Montserrat"/>
                <a:cs typeface="Montserrat"/>
                <a:sym typeface="Montserra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Data Description</a:t>
            </a:r>
            <a:endParaRPr sz="2200"/>
          </a:p>
        </p:txBody>
      </p:sp>
      <p:sp>
        <p:nvSpPr>
          <p:cNvPr id="259" name="Google Shape;259;p31"/>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60" name="Google Shape;260;p31"/>
          <p:cNvSpPr txBox="1"/>
          <p:nvPr/>
        </p:nvSpPr>
        <p:spPr>
          <a:xfrm>
            <a:off x="8311975" y="4710050"/>
            <a:ext cx="548700" cy="2340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rgbClr val="FFFFFF"/>
                </a:solidFill>
                <a:latin typeface="Archivo"/>
                <a:ea typeface="Archivo"/>
                <a:cs typeface="Archivo"/>
                <a:sym typeface="Archivo"/>
              </a:rPr>
              <a:t>‹#›</a:t>
            </a:fld>
            <a:endParaRPr sz="700">
              <a:solidFill>
                <a:srgbClr val="FFFFFF"/>
              </a:solidFill>
              <a:latin typeface="Archivo"/>
              <a:ea typeface="Archivo"/>
              <a:cs typeface="Archivo"/>
              <a:sym typeface="Archivo"/>
            </a:endParaRPr>
          </a:p>
        </p:txBody>
      </p:sp>
      <p:sp>
        <p:nvSpPr>
          <p:cNvPr id="261" name="Google Shape;261;p31"/>
          <p:cNvSpPr/>
          <p:nvPr/>
        </p:nvSpPr>
        <p:spPr>
          <a:xfrm>
            <a:off x="312225" y="1515425"/>
            <a:ext cx="4039200" cy="34287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45700" spcFirstLastPara="1" rIns="45700" wrap="square" tIns="91425">
            <a:noAutofit/>
          </a:bodyPr>
          <a:lstStyle/>
          <a:p>
            <a:pPr indent="0" lvl="0" marL="0" rtl="0" algn="l">
              <a:spcBef>
                <a:spcPts val="0"/>
              </a:spcBef>
              <a:spcAft>
                <a:spcPts val="0"/>
              </a:spcAft>
              <a:buNone/>
            </a:pPr>
            <a:r>
              <a:rPr b="1" lang="en" sz="1200" u="sng">
                <a:solidFill>
                  <a:schemeClr val="accent1"/>
                </a:solidFill>
                <a:latin typeface="Montserrat"/>
                <a:ea typeface="Montserrat"/>
                <a:cs typeface="Montserrat"/>
                <a:sym typeface="Montserrat"/>
              </a:rPr>
              <a:t>Source:</a:t>
            </a:r>
            <a:r>
              <a:rPr b="1" lang="en" sz="1200">
                <a:solidFill>
                  <a:schemeClr val="accent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City of Chicago Data Portal</a:t>
            </a:r>
            <a:endParaRPr sz="1200">
              <a:solidFill>
                <a:schemeClr val="dk1"/>
              </a:solidFill>
              <a:latin typeface="Montserrat"/>
              <a:ea typeface="Montserrat"/>
              <a:cs typeface="Montserrat"/>
              <a:sym typeface="Montserrat"/>
            </a:endParaRPr>
          </a:p>
          <a:p>
            <a:pPr indent="0" lvl="0" marL="0" rtl="0" algn="l">
              <a:spcBef>
                <a:spcPts val="800"/>
              </a:spcBef>
              <a:spcAft>
                <a:spcPts val="0"/>
              </a:spcAft>
              <a:buNone/>
            </a:pPr>
            <a:r>
              <a:rPr b="1" lang="en" sz="1200" u="sng">
                <a:solidFill>
                  <a:schemeClr val="accent1"/>
                </a:solidFill>
                <a:latin typeface="Montserrat"/>
                <a:ea typeface="Montserrat"/>
                <a:cs typeface="Montserrat"/>
                <a:sym typeface="Montserrat"/>
              </a:rPr>
              <a:t>Overview:</a:t>
            </a:r>
            <a:r>
              <a:rPr b="1" lang="en" sz="1200">
                <a:solidFill>
                  <a:schemeClr val="accent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Trip-level records for Uber and Lyft rides, including pickup/dropoff details, distances, durations, and fare components.</a:t>
            </a:r>
            <a:endParaRPr sz="1200">
              <a:solidFill>
                <a:schemeClr val="dk1"/>
              </a:solidFill>
              <a:latin typeface="Montserrat"/>
              <a:ea typeface="Montserrat"/>
              <a:cs typeface="Montserrat"/>
              <a:sym typeface="Montserrat"/>
            </a:endParaRPr>
          </a:p>
          <a:p>
            <a:pPr indent="0" lvl="0" marL="0" rtl="0" algn="l">
              <a:spcBef>
                <a:spcPts val="800"/>
              </a:spcBef>
              <a:spcAft>
                <a:spcPts val="0"/>
              </a:spcAft>
              <a:buNone/>
            </a:pPr>
            <a:r>
              <a:rPr b="1" lang="en" sz="1200" u="sng">
                <a:solidFill>
                  <a:schemeClr val="accent1"/>
                </a:solidFill>
                <a:latin typeface="Montserrat"/>
                <a:ea typeface="Montserrat"/>
                <a:cs typeface="Montserrat"/>
                <a:sym typeface="Montserrat"/>
              </a:rPr>
              <a:t>Features</a:t>
            </a:r>
            <a:endParaRPr b="1" sz="1200" u="sng">
              <a:solidFill>
                <a:schemeClr val="accent1"/>
              </a:solidFill>
              <a:latin typeface="Montserrat"/>
              <a:ea typeface="Montserrat"/>
              <a:cs typeface="Montserrat"/>
              <a:sym typeface="Montserrat"/>
            </a:endParaRPr>
          </a:p>
          <a:p>
            <a:pPr indent="-167640" lvl="0" marL="182880" rtl="0" algn="l">
              <a:spcBef>
                <a:spcPts val="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Pickup &amp; </a:t>
            </a:r>
            <a:r>
              <a:rPr lang="en" sz="1200">
                <a:solidFill>
                  <a:schemeClr val="dk1"/>
                </a:solidFill>
                <a:latin typeface="Montserrat"/>
                <a:ea typeface="Montserrat"/>
                <a:cs typeface="Montserrat"/>
                <a:sym typeface="Montserrat"/>
              </a:rPr>
              <a:t>drop off</a:t>
            </a:r>
            <a:r>
              <a:rPr lang="en" sz="1200">
                <a:solidFill>
                  <a:schemeClr val="dk1"/>
                </a:solidFill>
                <a:latin typeface="Montserrat"/>
                <a:ea typeface="Montserrat"/>
                <a:cs typeface="Montserrat"/>
                <a:sym typeface="Montserrat"/>
              </a:rPr>
              <a:t> timestamps and community areas</a:t>
            </a:r>
            <a:endParaRPr sz="1200">
              <a:solidFill>
                <a:schemeClr val="dk1"/>
              </a:solidFill>
              <a:latin typeface="Montserrat"/>
              <a:ea typeface="Montserrat"/>
              <a:cs typeface="Montserrat"/>
              <a:sym typeface="Montserrat"/>
            </a:endParaRPr>
          </a:p>
          <a:p>
            <a:pPr indent="-167640" lvl="0" marL="18288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Trip miles, trip duration, and fare amounts</a:t>
            </a:r>
            <a:endParaRPr sz="1200">
              <a:solidFill>
                <a:schemeClr val="dk1"/>
              </a:solidFill>
              <a:latin typeface="Montserrat"/>
              <a:ea typeface="Montserrat"/>
              <a:cs typeface="Montserrat"/>
              <a:sym typeface="Montserrat"/>
            </a:endParaRPr>
          </a:p>
          <a:p>
            <a:pPr indent="-167640" lvl="0" marL="18288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Surge multiplier, shared ride indicator, wheelchair-accessible indicator</a:t>
            </a:r>
            <a:endParaRPr sz="1200">
              <a:solidFill>
                <a:schemeClr val="dk1"/>
              </a:solidFill>
              <a:latin typeface="Montserrat"/>
              <a:ea typeface="Montserrat"/>
              <a:cs typeface="Montserrat"/>
              <a:sym typeface="Montserrat"/>
            </a:endParaRPr>
          </a:p>
          <a:p>
            <a:pPr indent="-167640" lvl="0" marL="182880" rtl="0" algn="l">
              <a:spcBef>
                <a:spcPts val="600"/>
              </a:spcBef>
              <a:spcAft>
                <a:spcPts val="600"/>
              </a:spcAft>
              <a:buClr>
                <a:schemeClr val="dk1"/>
              </a:buClr>
              <a:buSzPts val="1200"/>
              <a:buFont typeface="Montserrat"/>
              <a:buChar char="●"/>
            </a:pPr>
            <a:r>
              <a:rPr lang="en" sz="1200">
                <a:solidFill>
                  <a:schemeClr val="dk1"/>
                </a:solidFill>
                <a:latin typeface="Montserrat"/>
                <a:ea typeface="Montserrat"/>
                <a:cs typeface="Montserrat"/>
                <a:sym typeface="Montserrat"/>
              </a:rPr>
              <a:t>Payment type, trip status, and company </a:t>
            </a:r>
            <a:endParaRPr sz="1200">
              <a:solidFill>
                <a:schemeClr val="dk1"/>
              </a:solidFill>
              <a:latin typeface="Montserrat"/>
              <a:ea typeface="Montserrat"/>
              <a:cs typeface="Montserrat"/>
              <a:sym typeface="Montserrat"/>
            </a:endParaRPr>
          </a:p>
        </p:txBody>
      </p:sp>
      <p:sp>
        <p:nvSpPr>
          <p:cNvPr id="262" name="Google Shape;262;p31"/>
          <p:cNvSpPr/>
          <p:nvPr/>
        </p:nvSpPr>
        <p:spPr>
          <a:xfrm>
            <a:off x="4792600" y="1525175"/>
            <a:ext cx="4039200" cy="34287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45700" spcFirstLastPara="1" rIns="91425" wrap="square" tIns="91425">
            <a:noAutofit/>
          </a:bodyPr>
          <a:lstStyle/>
          <a:p>
            <a:pPr indent="0" lvl="0" marL="0" rtl="0" algn="l">
              <a:spcBef>
                <a:spcPts val="0"/>
              </a:spcBef>
              <a:spcAft>
                <a:spcPts val="0"/>
              </a:spcAft>
              <a:buNone/>
            </a:pPr>
            <a:r>
              <a:rPr b="1" lang="en" sz="1200" u="sng">
                <a:solidFill>
                  <a:schemeClr val="accent1"/>
                </a:solidFill>
                <a:latin typeface="Montserrat"/>
                <a:ea typeface="Montserrat"/>
                <a:cs typeface="Montserrat"/>
                <a:sym typeface="Montserrat"/>
              </a:rPr>
              <a:t>Source:</a:t>
            </a:r>
            <a:r>
              <a:rPr b="1" lang="en" sz="1200">
                <a:solidFill>
                  <a:schemeClr val="accent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City of Chicago Data Portal</a:t>
            </a:r>
            <a:endParaRPr sz="1200">
              <a:solidFill>
                <a:schemeClr val="dk1"/>
              </a:solidFill>
              <a:latin typeface="Montserrat"/>
              <a:ea typeface="Montserrat"/>
              <a:cs typeface="Montserrat"/>
              <a:sym typeface="Montserrat"/>
            </a:endParaRPr>
          </a:p>
          <a:p>
            <a:pPr indent="0" lvl="0" marL="0" rtl="0" algn="l">
              <a:spcBef>
                <a:spcPts val="800"/>
              </a:spcBef>
              <a:spcAft>
                <a:spcPts val="0"/>
              </a:spcAft>
              <a:buNone/>
            </a:pPr>
            <a:r>
              <a:rPr b="1" lang="en" sz="1200" u="sng">
                <a:solidFill>
                  <a:schemeClr val="accent1"/>
                </a:solidFill>
                <a:latin typeface="Montserrat"/>
                <a:ea typeface="Montserrat"/>
                <a:cs typeface="Montserrat"/>
                <a:sym typeface="Montserrat"/>
              </a:rPr>
              <a:t>Overview:</a:t>
            </a:r>
            <a:r>
              <a:rPr b="1" lang="en" sz="1200">
                <a:solidFill>
                  <a:schemeClr val="accent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Historical taxi trip records with detailed trip, fare, and meter information across Chicago’s licensed taxi fleet.</a:t>
            </a:r>
            <a:endParaRPr sz="1200">
              <a:solidFill>
                <a:schemeClr val="dk1"/>
              </a:solidFill>
              <a:latin typeface="Montserrat"/>
              <a:ea typeface="Montserrat"/>
              <a:cs typeface="Montserrat"/>
              <a:sym typeface="Montserrat"/>
            </a:endParaRPr>
          </a:p>
          <a:p>
            <a:pPr indent="0" lvl="0" marL="0" rtl="0" algn="l">
              <a:spcBef>
                <a:spcPts val="800"/>
              </a:spcBef>
              <a:spcAft>
                <a:spcPts val="0"/>
              </a:spcAft>
              <a:buNone/>
            </a:pPr>
            <a:r>
              <a:rPr b="1" lang="en" sz="1200" u="sng">
                <a:solidFill>
                  <a:schemeClr val="accent1"/>
                </a:solidFill>
                <a:latin typeface="Montserrat"/>
                <a:ea typeface="Montserrat"/>
                <a:cs typeface="Montserrat"/>
                <a:sym typeface="Montserrat"/>
              </a:rPr>
              <a:t>Features</a:t>
            </a:r>
            <a:endParaRPr b="1" sz="1200" u="sng">
              <a:solidFill>
                <a:schemeClr val="accent1"/>
              </a:solidFill>
              <a:latin typeface="Montserrat"/>
              <a:ea typeface="Montserrat"/>
              <a:cs typeface="Montserrat"/>
              <a:sym typeface="Montserrat"/>
            </a:endParaRPr>
          </a:p>
          <a:p>
            <a:pPr indent="-167640" lvl="0" marL="182880" rtl="0" algn="l">
              <a:spcBef>
                <a:spcPts val="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Pickup &amp; </a:t>
            </a:r>
            <a:r>
              <a:rPr lang="en" sz="1200">
                <a:solidFill>
                  <a:schemeClr val="dk1"/>
                </a:solidFill>
                <a:latin typeface="Montserrat"/>
                <a:ea typeface="Montserrat"/>
                <a:cs typeface="Montserrat"/>
                <a:sym typeface="Montserrat"/>
              </a:rPr>
              <a:t>drop off</a:t>
            </a:r>
            <a:r>
              <a:rPr lang="en" sz="1200">
                <a:solidFill>
                  <a:schemeClr val="dk1"/>
                </a:solidFill>
                <a:latin typeface="Montserrat"/>
                <a:ea typeface="Montserrat"/>
                <a:cs typeface="Montserrat"/>
                <a:sym typeface="Montserrat"/>
              </a:rPr>
              <a:t> timestamps and community areas</a:t>
            </a:r>
            <a:endParaRPr sz="1200">
              <a:solidFill>
                <a:schemeClr val="dk1"/>
              </a:solidFill>
              <a:latin typeface="Montserrat"/>
              <a:ea typeface="Montserrat"/>
              <a:cs typeface="Montserrat"/>
              <a:sym typeface="Montserrat"/>
            </a:endParaRPr>
          </a:p>
          <a:p>
            <a:pPr indent="-167640" lvl="0" marL="18288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Trip miles, trip duration, metered fare, tips, extras, taxes</a:t>
            </a:r>
            <a:endParaRPr sz="1200">
              <a:solidFill>
                <a:schemeClr val="dk1"/>
              </a:solidFill>
              <a:latin typeface="Montserrat"/>
              <a:ea typeface="Montserrat"/>
              <a:cs typeface="Montserrat"/>
              <a:sym typeface="Montserrat"/>
            </a:endParaRPr>
          </a:p>
          <a:p>
            <a:pPr indent="-167640" lvl="0" marL="18288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Payment type and company affiliation</a:t>
            </a:r>
            <a:endParaRPr sz="1200">
              <a:solidFill>
                <a:schemeClr val="dk1"/>
              </a:solidFill>
              <a:latin typeface="Montserrat"/>
              <a:ea typeface="Montserrat"/>
              <a:cs typeface="Montserrat"/>
              <a:sym typeface="Montserrat"/>
            </a:endParaRPr>
          </a:p>
          <a:p>
            <a:pPr indent="-167640" lvl="0" marL="182880" rtl="0" algn="l">
              <a:spcBef>
                <a:spcPts val="600"/>
              </a:spcBef>
              <a:spcAft>
                <a:spcPts val="600"/>
              </a:spcAft>
              <a:buClr>
                <a:schemeClr val="dk1"/>
              </a:buClr>
              <a:buSzPts val="1200"/>
              <a:buFont typeface="Montserrat"/>
              <a:buChar char="●"/>
            </a:pPr>
            <a:r>
              <a:rPr lang="en" sz="1200">
                <a:solidFill>
                  <a:schemeClr val="dk1"/>
                </a:solidFill>
                <a:latin typeface="Montserrat"/>
                <a:ea typeface="Montserrat"/>
                <a:cs typeface="Montserrat"/>
                <a:sym typeface="Montserrat"/>
              </a:rPr>
              <a:t>Pickup/dropoff GPS, trip status flags</a:t>
            </a:r>
            <a:endParaRPr sz="1200">
              <a:solidFill>
                <a:schemeClr val="dk1"/>
              </a:solidFill>
              <a:latin typeface="Montserrat"/>
              <a:ea typeface="Montserrat"/>
              <a:cs typeface="Montserrat"/>
              <a:sym typeface="Montserrat"/>
            </a:endParaRPr>
          </a:p>
        </p:txBody>
      </p:sp>
      <p:sp>
        <p:nvSpPr>
          <p:cNvPr id="263" name="Google Shape;263;p31"/>
          <p:cNvSpPr/>
          <p:nvPr/>
        </p:nvSpPr>
        <p:spPr>
          <a:xfrm>
            <a:off x="361975" y="760805"/>
            <a:ext cx="4039200" cy="689400"/>
          </a:xfrm>
          <a:prstGeom prst="roundRect">
            <a:avLst>
              <a:gd fmla="val 16667" name="adj"/>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Montserrat"/>
                <a:ea typeface="Montserrat"/>
                <a:cs typeface="Montserrat"/>
                <a:sym typeface="Montserrat"/>
              </a:rPr>
              <a:t>Transportation Network Providers – Trips (2018–2022)</a:t>
            </a:r>
            <a:endParaRPr b="1" sz="1800">
              <a:solidFill>
                <a:schemeClr val="lt1"/>
              </a:solidFill>
              <a:latin typeface="Montserrat"/>
              <a:ea typeface="Montserrat"/>
              <a:cs typeface="Montserrat"/>
              <a:sym typeface="Montserrat"/>
            </a:endParaRPr>
          </a:p>
        </p:txBody>
      </p:sp>
      <p:sp>
        <p:nvSpPr>
          <p:cNvPr id="264" name="Google Shape;264;p31"/>
          <p:cNvSpPr/>
          <p:nvPr/>
        </p:nvSpPr>
        <p:spPr>
          <a:xfrm>
            <a:off x="4792600" y="760805"/>
            <a:ext cx="4039200" cy="689400"/>
          </a:xfrm>
          <a:prstGeom prst="roundRect">
            <a:avLst>
              <a:gd fmla="val 16667" name="adj"/>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Montserrat"/>
                <a:ea typeface="Montserrat"/>
                <a:cs typeface="Montserrat"/>
                <a:sym typeface="Montserrat"/>
              </a:rPr>
              <a:t>Taxi Trips (2013–2023)</a:t>
            </a:r>
            <a:endParaRPr b="1" sz="1800">
              <a:solidFill>
                <a:schemeClr val="lt1"/>
              </a:solidFill>
              <a:latin typeface="Montserrat"/>
              <a:ea typeface="Montserrat"/>
              <a:cs typeface="Montserrat"/>
              <a:sym typeface="Montserrat"/>
            </a:endParaRPr>
          </a:p>
        </p:txBody>
      </p:sp>
      <p:grpSp>
        <p:nvGrpSpPr>
          <p:cNvPr id="265" name="Google Shape;265;p31"/>
          <p:cNvGrpSpPr/>
          <p:nvPr/>
        </p:nvGrpSpPr>
        <p:grpSpPr>
          <a:xfrm>
            <a:off x="1806050" y="4625586"/>
            <a:ext cx="1051559" cy="277230"/>
            <a:chOff x="3792200" y="4944050"/>
            <a:chExt cx="1051559" cy="277230"/>
          </a:xfrm>
        </p:grpSpPr>
        <p:pic>
          <p:nvPicPr>
            <p:cNvPr id="266" name="Google Shape;266;p31"/>
            <p:cNvPicPr preferRelativeResize="0"/>
            <p:nvPr/>
          </p:nvPicPr>
          <p:blipFill>
            <a:blip r:embed="rId3">
              <a:alphaModFix/>
            </a:blip>
            <a:stretch>
              <a:fillRect/>
            </a:stretch>
          </p:blipFill>
          <p:spPr>
            <a:xfrm>
              <a:off x="3792200" y="4944056"/>
              <a:ext cx="580813" cy="208450"/>
            </a:xfrm>
            <a:prstGeom prst="rect">
              <a:avLst/>
            </a:prstGeom>
            <a:noFill/>
            <a:ln>
              <a:noFill/>
            </a:ln>
          </p:spPr>
        </p:pic>
        <p:pic>
          <p:nvPicPr>
            <p:cNvPr id="267" name="Google Shape;267;p31"/>
            <p:cNvPicPr preferRelativeResize="0"/>
            <p:nvPr/>
          </p:nvPicPr>
          <p:blipFill>
            <a:blip r:embed="rId4">
              <a:alphaModFix/>
            </a:blip>
            <a:stretch>
              <a:fillRect/>
            </a:stretch>
          </p:blipFill>
          <p:spPr>
            <a:xfrm>
              <a:off x="4428907" y="4944050"/>
              <a:ext cx="414852" cy="277230"/>
            </a:xfrm>
            <a:prstGeom prst="rect">
              <a:avLst/>
            </a:prstGeom>
            <a:noFill/>
            <a:ln>
              <a:noFill/>
            </a:ln>
          </p:spPr>
        </p:pic>
      </p:grpSp>
      <p:pic>
        <p:nvPicPr>
          <p:cNvPr id="268" name="Google Shape;268;p31"/>
          <p:cNvPicPr preferRelativeResize="0"/>
          <p:nvPr/>
        </p:nvPicPr>
        <p:blipFill rotWithShape="1">
          <a:blip r:embed="rId5">
            <a:alphaModFix/>
          </a:blip>
          <a:srcRect b="26345" l="0" r="0" t="27231"/>
          <a:stretch/>
        </p:blipFill>
        <p:spPr>
          <a:xfrm>
            <a:off x="6469300" y="4586545"/>
            <a:ext cx="685800" cy="31350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Data Processing &amp; Preparation</a:t>
            </a:r>
            <a:endParaRPr sz="2200"/>
          </a:p>
        </p:txBody>
      </p:sp>
      <p:sp>
        <p:nvSpPr>
          <p:cNvPr id="274" name="Google Shape;274;p32"/>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75" name="Google Shape;275;p32"/>
          <p:cNvSpPr txBox="1"/>
          <p:nvPr/>
        </p:nvSpPr>
        <p:spPr>
          <a:xfrm>
            <a:off x="8311975" y="4710050"/>
            <a:ext cx="548700" cy="2340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rgbClr val="FFFFFF"/>
                </a:solidFill>
                <a:latin typeface="Archivo"/>
                <a:ea typeface="Archivo"/>
                <a:cs typeface="Archivo"/>
                <a:sym typeface="Archivo"/>
              </a:rPr>
              <a:t>‹#›</a:t>
            </a:fld>
            <a:endParaRPr sz="700">
              <a:solidFill>
                <a:srgbClr val="FFFFFF"/>
              </a:solidFill>
              <a:latin typeface="Archivo"/>
              <a:ea typeface="Archivo"/>
              <a:cs typeface="Archivo"/>
              <a:sym typeface="Archivo"/>
            </a:endParaRPr>
          </a:p>
        </p:txBody>
      </p:sp>
      <p:sp>
        <p:nvSpPr>
          <p:cNvPr id="276" name="Google Shape;276;p32"/>
          <p:cNvSpPr txBox="1"/>
          <p:nvPr/>
        </p:nvSpPr>
        <p:spPr>
          <a:xfrm>
            <a:off x="36000" y="830937"/>
            <a:ext cx="3000000" cy="22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u="sng">
                <a:solidFill>
                  <a:schemeClr val="accent1"/>
                </a:solidFill>
                <a:latin typeface="Montserrat"/>
                <a:ea typeface="Montserrat"/>
                <a:cs typeface="Montserrat"/>
                <a:sym typeface="Montserrat"/>
              </a:rPr>
              <a:t>Large-Scale Data Cleaning</a:t>
            </a:r>
            <a:endParaRPr b="1" sz="1200" u="sng">
              <a:solidFill>
                <a:schemeClr val="accent1"/>
              </a:solidFill>
              <a:latin typeface="Montserrat"/>
              <a:ea typeface="Montserrat"/>
              <a:cs typeface="Montserrat"/>
              <a:sym typeface="Montserrat"/>
            </a:endParaRPr>
          </a:p>
          <a:p>
            <a:pPr indent="-304800" lvl="0" marL="457200" rtl="0" algn="l">
              <a:lnSpc>
                <a:spcPct val="115000"/>
              </a:lnSpc>
              <a:spcBef>
                <a:spcPts val="2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Processed 250M+ trip records across TNPs and Taxis.</a:t>
            </a:r>
            <a:endParaRPr sz="1200">
              <a:solidFill>
                <a:schemeClr val="dk1"/>
              </a:solidFill>
              <a:latin typeface="Montserrat"/>
              <a:ea typeface="Montserrat"/>
              <a:cs typeface="Montserrat"/>
              <a:sym typeface="Montserrat"/>
            </a:endParaRPr>
          </a:p>
          <a:p>
            <a:pPr indent="-304800" lvl="0" marL="457200" rtl="0" algn="l">
              <a:lnSpc>
                <a:spcPct val="115000"/>
              </a:lnSpc>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Standardized timestamp formats; removed invalid or incomplete trips.</a:t>
            </a:r>
            <a:endParaRPr sz="1200">
              <a:solidFill>
                <a:schemeClr val="dk1"/>
              </a:solidFill>
              <a:latin typeface="Montserrat"/>
              <a:ea typeface="Montserrat"/>
              <a:cs typeface="Montserrat"/>
              <a:sym typeface="Montserrat"/>
            </a:endParaRPr>
          </a:p>
          <a:p>
            <a:pPr indent="-304800" lvl="0" marL="457200" rtl="0" algn="l">
              <a:lnSpc>
                <a:spcPct val="115000"/>
              </a:lnSpc>
              <a:spcBef>
                <a:spcPts val="600"/>
              </a:spcBef>
              <a:spcAft>
                <a:spcPts val="1200"/>
              </a:spcAft>
              <a:buClr>
                <a:schemeClr val="dk1"/>
              </a:buClr>
              <a:buSzPts val="1200"/>
              <a:buFont typeface="Montserrat"/>
              <a:buChar char="●"/>
            </a:pPr>
            <a:r>
              <a:rPr lang="en" sz="1200">
                <a:solidFill>
                  <a:schemeClr val="dk1"/>
                </a:solidFill>
                <a:latin typeface="Montserrat"/>
                <a:ea typeface="Montserrat"/>
                <a:cs typeface="Montserrat"/>
                <a:sym typeface="Montserrat"/>
              </a:rPr>
              <a:t>Mapped geographic identifiers to 77 Chicago Community Areas.</a:t>
            </a:r>
            <a:endParaRPr sz="1200">
              <a:solidFill>
                <a:schemeClr val="dk1"/>
              </a:solidFill>
              <a:latin typeface="Montserrat"/>
              <a:ea typeface="Montserrat"/>
              <a:cs typeface="Montserrat"/>
              <a:sym typeface="Montserrat"/>
            </a:endParaRPr>
          </a:p>
        </p:txBody>
      </p:sp>
      <p:sp>
        <p:nvSpPr>
          <p:cNvPr id="277" name="Google Shape;277;p32"/>
          <p:cNvSpPr txBox="1"/>
          <p:nvPr/>
        </p:nvSpPr>
        <p:spPr>
          <a:xfrm>
            <a:off x="6108000" y="830925"/>
            <a:ext cx="3000000" cy="267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u="sng">
                <a:solidFill>
                  <a:schemeClr val="accent1"/>
                </a:solidFill>
                <a:latin typeface="Montserrat"/>
                <a:ea typeface="Montserrat"/>
                <a:cs typeface="Montserrat"/>
                <a:sym typeface="Montserrat"/>
              </a:rPr>
              <a:t>Time &amp; Space Aggregation</a:t>
            </a:r>
            <a:endParaRPr b="1" sz="1200" u="sng">
              <a:solidFill>
                <a:schemeClr val="accent1"/>
              </a:solidFill>
              <a:latin typeface="Montserrat"/>
              <a:ea typeface="Montserrat"/>
              <a:cs typeface="Montserrat"/>
              <a:sym typeface="Montserrat"/>
            </a:endParaRPr>
          </a:p>
          <a:p>
            <a:pPr indent="-304800" lvl="0" marL="457200" rtl="0" algn="l">
              <a:lnSpc>
                <a:spcPct val="115000"/>
              </a:lnSpc>
              <a:spcBef>
                <a:spcPts val="200"/>
              </a:spcBef>
              <a:spcAft>
                <a:spcPts val="0"/>
              </a:spcAft>
              <a:buClr>
                <a:schemeClr val="dk1"/>
              </a:buClr>
              <a:buSzPts val="1200"/>
              <a:buChar char="●"/>
            </a:pPr>
            <a:r>
              <a:rPr lang="en" sz="1200">
                <a:solidFill>
                  <a:schemeClr val="dk1"/>
                </a:solidFill>
                <a:latin typeface="Montserrat"/>
                <a:ea typeface="Montserrat"/>
                <a:cs typeface="Montserrat"/>
                <a:sym typeface="Montserrat"/>
              </a:rPr>
              <a:t>Converted raw trip timestamps into </a:t>
            </a:r>
            <a:r>
              <a:rPr b="1" lang="en" sz="1200">
                <a:solidFill>
                  <a:schemeClr val="dk1"/>
                </a:solidFill>
                <a:latin typeface="Montserrat"/>
                <a:ea typeface="Montserrat"/>
                <a:cs typeface="Montserrat"/>
                <a:sym typeface="Montserrat"/>
              </a:rPr>
              <a:t>15-minute intervals</a:t>
            </a:r>
            <a:r>
              <a:rPr lang="en" sz="1200">
                <a:solidFill>
                  <a:schemeClr val="dk1"/>
                </a:solidFill>
                <a:latin typeface="Montserrat"/>
                <a:ea typeface="Montserrat"/>
                <a:cs typeface="Montserrat"/>
                <a:sym typeface="Montserrat"/>
              </a:rPr>
              <a:t> to match forecasting granularity.</a:t>
            </a:r>
            <a:endParaRPr sz="1200">
              <a:solidFill>
                <a:schemeClr val="dk1"/>
              </a:solidFill>
              <a:latin typeface="Montserrat"/>
              <a:ea typeface="Montserrat"/>
              <a:cs typeface="Montserrat"/>
              <a:sym typeface="Montserrat"/>
            </a:endParaRPr>
          </a:p>
          <a:p>
            <a:pPr indent="-304800" lvl="0" marL="457200" rtl="0" algn="l">
              <a:lnSpc>
                <a:spcPct val="115000"/>
              </a:lnSpc>
              <a:spcBef>
                <a:spcPts val="600"/>
              </a:spcBef>
              <a:spcAft>
                <a:spcPts val="0"/>
              </a:spcAft>
              <a:buClr>
                <a:schemeClr val="dk1"/>
              </a:buClr>
              <a:buSzPts val="1200"/>
              <a:buChar char="●"/>
            </a:pPr>
            <a:r>
              <a:rPr lang="en" sz="1200">
                <a:solidFill>
                  <a:schemeClr val="dk1"/>
                </a:solidFill>
                <a:latin typeface="Montserrat"/>
                <a:ea typeface="Montserrat"/>
                <a:cs typeface="Montserrat"/>
                <a:sym typeface="Montserrat"/>
              </a:rPr>
              <a:t>Aggregated trips by </a:t>
            </a:r>
            <a:r>
              <a:rPr b="1" lang="en" sz="1200">
                <a:solidFill>
                  <a:schemeClr val="dk1"/>
                </a:solidFill>
                <a:latin typeface="Montserrat"/>
                <a:ea typeface="Montserrat"/>
                <a:cs typeface="Montserrat"/>
                <a:sym typeface="Montserrat"/>
              </a:rPr>
              <a:t>(community area × 15-minute window)</a:t>
            </a:r>
            <a:r>
              <a:rPr lang="en" sz="1200">
                <a:solidFill>
                  <a:schemeClr val="dk1"/>
                </a:solidFill>
                <a:latin typeface="Montserrat"/>
                <a:ea typeface="Montserrat"/>
                <a:cs typeface="Montserrat"/>
                <a:sym typeface="Montserrat"/>
              </a:rPr>
              <a:t> to create demand counts.</a:t>
            </a:r>
            <a:endParaRPr sz="1200">
              <a:solidFill>
                <a:schemeClr val="dk1"/>
              </a:solidFill>
              <a:latin typeface="Montserrat"/>
              <a:ea typeface="Montserrat"/>
              <a:cs typeface="Montserrat"/>
              <a:sym typeface="Montserrat"/>
            </a:endParaRPr>
          </a:p>
          <a:p>
            <a:pPr indent="-304800" lvl="0" marL="457200" rtl="0" algn="l">
              <a:lnSpc>
                <a:spcPct val="115000"/>
              </a:lnSpc>
              <a:spcBef>
                <a:spcPts val="600"/>
              </a:spcBef>
              <a:spcAft>
                <a:spcPts val="400"/>
              </a:spcAft>
              <a:buClr>
                <a:schemeClr val="dk1"/>
              </a:buClr>
              <a:buSzPts val="1200"/>
              <a:buFont typeface="Montserrat"/>
              <a:buChar char="●"/>
            </a:pPr>
            <a:r>
              <a:rPr lang="en" sz="1200">
                <a:solidFill>
                  <a:schemeClr val="dk1"/>
                </a:solidFill>
                <a:latin typeface="Montserrat"/>
                <a:ea typeface="Montserrat"/>
                <a:cs typeface="Montserrat"/>
                <a:sym typeface="Montserrat"/>
              </a:rPr>
              <a:t>Ensured consistency across TNP and Taxi datasets.</a:t>
            </a:r>
            <a:endParaRPr sz="1200">
              <a:solidFill>
                <a:schemeClr val="dk1"/>
              </a:solidFill>
              <a:latin typeface="Montserrat"/>
              <a:ea typeface="Montserrat"/>
              <a:cs typeface="Montserrat"/>
              <a:sym typeface="Montserrat"/>
            </a:endParaRPr>
          </a:p>
        </p:txBody>
      </p:sp>
      <p:sp>
        <p:nvSpPr>
          <p:cNvPr id="278" name="Google Shape;278;p32"/>
          <p:cNvSpPr txBox="1"/>
          <p:nvPr/>
        </p:nvSpPr>
        <p:spPr>
          <a:xfrm>
            <a:off x="3108000" y="3276521"/>
            <a:ext cx="3000000" cy="132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u="sng">
                <a:solidFill>
                  <a:schemeClr val="accent1"/>
                </a:solidFill>
                <a:latin typeface="Montserrat"/>
                <a:ea typeface="Montserrat"/>
                <a:cs typeface="Montserrat"/>
                <a:sym typeface="Montserrat"/>
              </a:rPr>
              <a:t>Dataset Integration</a:t>
            </a:r>
            <a:endParaRPr b="1" sz="1200" u="sng">
              <a:solidFill>
                <a:schemeClr val="accent1"/>
              </a:solidFill>
              <a:latin typeface="Montserrat"/>
              <a:ea typeface="Montserrat"/>
              <a:cs typeface="Montserrat"/>
              <a:sym typeface="Montserrat"/>
            </a:endParaRPr>
          </a:p>
          <a:p>
            <a:pPr indent="-304800" lvl="0" marL="457200" rtl="0" algn="l">
              <a:lnSpc>
                <a:spcPct val="115000"/>
              </a:lnSpc>
              <a:spcBef>
                <a:spcPts val="200"/>
              </a:spcBef>
              <a:spcAft>
                <a:spcPts val="0"/>
              </a:spcAft>
              <a:buClr>
                <a:schemeClr val="dk1"/>
              </a:buClr>
              <a:buSzPts val="1200"/>
              <a:buChar char="●"/>
            </a:pPr>
            <a:r>
              <a:rPr lang="en" sz="1200">
                <a:solidFill>
                  <a:schemeClr val="dk1"/>
                </a:solidFill>
                <a:latin typeface="Montserrat"/>
                <a:ea typeface="Montserrat"/>
                <a:cs typeface="Montserrat"/>
                <a:sym typeface="Montserrat"/>
              </a:rPr>
              <a:t>Merged </a:t>
            </a:r>
            <a:r>
              <a:rPr b="1" lang="en" sz="1200">
                <a:solidFill>
                  <a:schemeClr val="dk1"/>
                </a:solidFill>
                <a:latin typeface="Montserrat"/>
                <a:ea typeface="Montserrat"/>
                <a:cs typeface="Montserrat"/>
                <a:sym typeface="Montserrat"/>
              </a:rPr>
              <a:t>TNP</a:t>
            </a:r>
            <a:r>
              <a:rPr lang="en" sz="1200">
                <a:solidFill>
                  <a:schemeClr val="dk1"/>
                </a:solidFill>
                <a:latin typeface="Montserrat"/>
                <a:ea typeface="Montserrat"/>
                <a:cs typeface="Montserrat"/>
                <a:sym typeface="Montserrat"/>
              </a:rPr>
              <a:t>, </a:t>
            </a:r>
            <a:r>
              <a:rPr b="1" lang="en" sz="1200">
                <a:solidFill>
                  <a:schemeClr val="dk1"/>
                </a:solidFill>
                <a:latin typeface="Montserrat"/>
                <a:ea typeface="Montserrat"/>
                <a:cs typeface="Montserrat"/>
                <a:sym typeface="Montserrat"/>
              </a:rPr>
              <a:t>Taxi</a:t>
            </a:r>
            <a:r>
              <a:rPr lang="en" sz="1200">
                <a:solidFill>
                  <a:schemeClr val="dk1"/>
                </a:solidFill>
                <a:latin typeface="Montserrat"/>
                <a:ea typeface="Montserrat"/>
                <a:cs typeface="Montserrat"/>
                <a:sym typeface="Montserrat"/>
              </a:rPr>
              <a:t>, and </a:t>
            </a:r>
            <a:r>
              <a:rPr b="1" lang="en" sz="1200">
                <a:solidFill>
                  <a:schemeClr val="dk1"/>
                </a:solidFill>
                <a:latin typeface="Montserrat"/>
                <a:ea typeface="Montserrat"/>
                <a:cs typeface="Montserrat"/>
                <a:sym typeface="Montserrat"/>
              </a:rPr>
              <a:t>NOAA weather</a:t>
            </a:r>
            <a:r>
              <a:rPr lang="en" sz="1200">
                <a:solidFill>
                  <a:schemeClr val="dk1"/>
                </a:solidFill>
                <a:latin typeface="Montserrat"/>
                <a:ea typeface="Montserrat"/>
                <a:cs typeface="Montserrat"/>
                <a:sym typeface="Montserrat"/>
              </a:rPr>
              <a:t> datasets into a unified analytical table.</a:t>
            </a:r>
            <a:endParaRPr sz="1200">
              <a:solidFill>
                <a:schemeClr val="dk1"/>
              </a:solidFill>
              <a:latin typeface="Montserrat"/>
              <a:ea typeface="Montserrat"/>
              <a:cs typeface="Montserrat"/>
              <a:sym typeface="Montserrat"/>
            </a:endParaRPr>
          </a:p>
          <a:p>
            <a:pPr indent="-304800" lvl="0" marL="457200" rtl="0" algn="l">
              <a:lnSpc>
                <a:spcPct val="115000"/>
              </a:lnSpc>
              <a:spcBef>
                <a:spcPts val="600"/>
              </a:spcBef>
              <a:spcAft>
                <a:spcPts val="1200"/>
              </a:spcAft>
              <a:buClr>
                <a:schemeClr val="dk1"/>
              </a:buClr>
              <a:buSzPts val="1200"/>
              <a:buFont typeface="Montserrat"/>
              <a:buChar char="●"/>
            </a:pPr>
            <a:r>
              <a:rPr lang="en" sz="1200">
                <a:solidFill>
                  <a:schemeClr val="dk1"/>
                </a:solidFill>
                <a:latin typeface="Montserrat"/>
                <a:ea typeface="Montserrat"/>
                <a:cs typeface="Montserrat"/>
                <a:sym typeface="Montserrat"/>
              </a:rPr>
              <a:t>Joined on timestamp </a:t>
            </a:r>
            <a:endParaRPr sz="1200">
              <a:solidFill>
                <a:schemeClr val="dk1"/>
              </a:solidFill>
              <a:latin typeface="Montserrat"/>
              <a:ea typeface="Montserrat"/>
              <a:cs typeface="Montserrat"/>
              <a:sym typeface="Montserrat"/>
            </a:endParaRPr>
          </a:p>
        </p:txBody>
      </p:sp>
      <p:grpSp>
        <p:nvGrpSpPr>
          <p:cNvPr id="279" name="Google Shape;279;p32"/>
          <p:cNvGrpSpPr/>
          <p:nvPr/>
        </p:nvGrpSpPr>
        <p:grpSpPr>
          <a:xfrm>
            <a:off x="3542108" y="1125375"/>
            <a:ext cx="2111614" cy="1430570"/>
            <a:chOff x="3274963" y="2296381"/>
            <a:chExt cx="2594120" cy="1757456"/>
          </a:xfrm>
        </p:grpSpPr>
        <p:sp>
          <p:nvSpPr>
            <p:cNvPr id="280" name="Google Shape;280;p32"/>
            <p:cNvSpPr/>
            <p:nvPr/>
          </p:nvSpPr>
          <p:spPr>
            <a:xfrm>
              <a:off x="4551870" y="2712506"/>
              <a:ext cx="936497" cy="907420"/>
            </a:xfrm>
            <a:custGeom>
              <a:rect b="b" l="l" r="r" t="t"/>
              <a:pathLst>
                <a:path extrusionOk="0" h="52803" w="54495">
                  <a:moveTo>
                    <a:pt x="33100" y="1"/>
                  </a:moveTo>
                  <a:cubicBezTo>
                    <a:pt x="30177" y="1"/>
                    <a:pt x="27230" y="283"/>
                    <a:pt x="24563" y="1034"/>
                  </a:cubicBezTo>
                  <a:cubicBezTo>
                    <a:pt x="23284" y="25514"/>
                    <a:pt x="268" y="25585"/>
                    <a:pt x="2" y="25585"/>
                  </a:cubicBezTo>
                  <a:cubicBezTo>
                    <a:pt x="1" y="25585"/>
                    <a:pt x="0" y="25585"/>
                    <a:pt x="0" y="25585"/>
                  </a:cubicBezTo>
                  <a:lnTo>
                    <a:pt x="0" y="25585"/>
                  </a:lnTo>
                  <a:lnTo>
                    <a:pt x="1500" y="51040"/>
                  </a:lnTo>
                  <a:lnTo>
                    <a:pt x="1274" y="51266"/>
                  </a:lnTo>
                  <a:lnTo>
                    <a:pt x="1524" y="51290"/>
                  </a:lnTo>
                  <a:lnTo>
                    <a:pt x="1536" y="51528"/>
                  </a:lnTo>
                  <a:lnTo>
                    <a:pt x="1762" y="51302"/>
                  </a:lnTo>
                  <a:lnTo>
                    <a:pt x="27218" y="52802"/>
                  </a:lnTo>
                  <a:cubicBezTo>
                    <a:pt x="27218" y="52802"/>
                    <a:pt x="25575" y="28990"/>
                    <a:pt x="51768" y="28252"/>
                  </a:cubicBezTo>
                  <a:cubicBezTo>
                    <a:pt x="54495" y="18572"/>
                    <a:pt x="51042" y="5189"/>
                    <a:pt x="50352" y="2713"/>
                  </a:cubicBezTo>
                  <a:lnTo>
                    <a:pt x="50506" y="2570"/>
                  </a:lnTo>
                  <a:cubicBezTo>
                    <a:pt x="50506" y="2570"/>
                    <a:pt x="50435" y="2546"/>
                    <a:pt x="50304" y="2510"/>
                  </a:cubicBezTo>
                  <a:cubicBezTo>
                    <a:pt x="50268" y="2379"/>
                    <a:pt x="50244" y="2308"/>
                    <a:pt x="50244" y="2308"/>
                  </a:cubicBezTo>
                  <a:lnTo>
                    <a:pt x="50090" y="2451"/>
                  </a:lnTo>
                  <a:cubicBezTo>
                    <a:pt x="48296" y="1951"/>
                    <a:pt x="40784" y="1"/>
                    <a:pt x="33100" y="1"/>
                  </a:cubicBezTo>
                  <a:close/>
                </a:path>
              </a:pathLst>
            </a:custGeom>
            <a:solidFill>
              <a:srgbClr val="C9DAF8"/>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1139"/>
            </a:p>
          </p:txBody>
        </p:sp>
        <p:sp>
          <p:nvSpPr>
            <p:cNvPr id="281" name="Google Shape;281;p32"/>
            <p:cNvSpPr/>
            <p:nvPr/>
          </p:nvSpPr>
          <p:spPr>
            <a:xfrm>
              <a:off x="4961589" y="2296381"/>
              <a:ext cx="907493" cy="907511"/>
            </a:xfrm>
            <a:custGeom>
              <a:rect b="b" l="l" r="r" t="t"/>
              <a:pathLst>
                <a:path extrusionOk="0" h="51984" w="51983">
                  <a:moveTo>
                    <a:pt x="25991" y="1"/>
                  </a:moveTo>
                  <a:cubicBezTo>
                    <a:pt x="11632" y="1"/>
                    <a:pt x="0" y="11633"/>
                    <a:pt x="0" y="25992"/>
                  </a:cubicBezTo>
                  <a:cubicBezTo>
                    <a:pt x="0" y="40351"/>
                    <a:pt x="11632" y="51983"/>
                    <a:pt x="25991" y="51983"/>
                  </a:cubicBezTo>
                  <a:cubicBezTo>
                    <a:pt x="40338" y="51983"/>
                    <a:pt x="51983" y="40351"/>
                    <a:pt x="51983" y="25992"/>
                  </a:cubicBezTo>
                  <a:cubicBezTo>
                    <a:pt x="51983" y="11633"/>
                    <a:pt x="40338" y="1"/>
                    <a:pt x="25991" y="1"/>
                  </a:cubicBezTo>
                  <a:close/>
                </a:path>
              </a:pathLst>
            </a:custGeom>
            <a:solidFill>
              <a:srgbClr val="FFFFFF"/>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590"/>
            </a:p>
          </p:txBody>
        </p:sp>
        <p:sp>
          <p:nvSpPr>
            <p:cNvPr id="282" name="Google Shape;282;p32"/>
            <p:cNvSpPr/>
            <p:nvPr/>
          </p:nvSpPr>
          <p:spPr>
            <a:xfrm>
              <a:off x="4984232" y="2319040"/>
              <a:ext cx="862191" cy="862191"/>
            </a:xfrm>
            <a:custGeom>
              <a:rect b="b" l="l" r="r" t="t"/>
              <a:pathLst>
                <a:path extrusionOk="0" h="49388" w="49388">
                  <a:moveTo>
                    <a:pt x="24694" y="0"/>
                  </a:moveTo>
                  <a:cubicBezTo>
                    <a:pt x="11050" y="0"/>
                    <a:pt x="1" y="11061"/>
                    <a:pt x="1" y="24694"/>
                  </a:cubicBezTo>
                  <a:cubicBezTo>
                    <a:pt x="1" y="38327"/>
                    <a:pt x="11050" y="49387"/>
                    <a:pt x="24694" y="49387"/>
                  </a:cubicBezTo>
                  <a:cubicBezTo>
                    <a:pt x="38327" y="49387"/>
                    <a:pt x="49388" y="38327"/>
                    <a:pt x="49388" y="24694"/>
                  </a:cubicBezTo>
                  <a:cubicBezTo>
                    <a:pt x="49388" y="11061"/>
                    <a:pt x="38327" y="0"/>
                    <a:pt x="24694" y="0"/>
                  </a:cubicBezTo>
                  <a:close/>
                </a:path>
              </a:pathLst>
            </a:custGeom>
            <a:solidFill>
              <a:schemeClr val="dk2"/>
            </a:solidFill>
            <a:ln cap="flat" cmpd="sng" w="9525">
              <a:solidFill>
                <a:srgbClr val="FFFFFF"/>
              </a:solidFill>
              <a:prstDash val="solid"/>
              <a:round/>
              <a:headEnd len="sm" w="sm" type="none"/>
              <a:tailEnd len="sm" w="sm" type="none"/>
            </a:ln>
          </p:spPr>
          <p:txBody>
            <a:bodyPr anchorCtr="0" anchor="ctr" bIns="74425" lIns="74425" spcFirstLastPara="1" rIns="74425" wrap="square" tIns="74425">
              <a:noAutofit/>
            </a:bodyPr>
            <a:lstStyle/>
            <a:p>
              <a:pPr indent="0" lvl="0" marL="0" rtl="0" algn="l">
                <a:spcBef>
                  <a:spcPts val="0"/>
                </a:spcBef>
                <a:spcAft>
                  <a:spcPts val="0"/>
                </a:spcAft>
                <a:buNone/>
              </a:pPr>
              <a:r>
                <a:t/>
              </a:r>
              <a:endParaRPr sz="1139"/>
            </a:p>
          </p:txBody>
        </p:sp>
        <p:sp>
          <p:nvSpPr>
            <p:cNvPr id="283" name="Google Shape;283;p32"/>
            <p:cNvSpPr/>
            <p:nvPr/>
          </p:nvSpPr>
          <p:spPr>
            <a:xfrm>
              <a:off x="5137841" y="2472644"/>
              <a:ext cx="554991" cy="554974"/>
            </a:xfrm>
            <a:custGeom>
              <a:rect b="b" l="l" r="r" t="t"/>
              <a:pathLst>
                <a:path extrusionOk="0" h="31790" w="31791">
                  <a:moveTo>
                    <a:pt x="15895" y="0"/>
                  </a:moveTo>
                  <a:cubicBezTo>
                    <a:pt x="7109" y="0"/>
                    <a:pt x="1" y="7120"/>
                    <a:pt x="1" y="15895"/>
                  </a:cubicBezTo>
                  <a:cubicBezTo>
                    <a:pt x="1" y="24670"/>
                    <a:pt x="7109" y="31790"/>
                    <a:pt x="15895" y="31790"/>
                  </a:cubicBezTo>
                  <a:cubicBezTo>
                    <a:pt x="24670" y="31790"/>
                    <a:pt x="31790" y="24670"/>
                    <a:pt x="31790" y="15895"/>
                  </a:cubicBezTo>
                  <a:cubicBezTo>
                    <a:pt x="31790" y="7120"/>
                    <a:pt x="24670" y="0"/>
                    <a:pt x="15895" y="0"/>
                  </a:cubicBezTo>
                  <a:close/>
                </a:path>
              </a:pathLst>
            </a:custGeom>
            <a:solidFill>
              <a:srgbClr val="EEEEEE"/>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727"/>
            </a:p>
          </p:txBody>
        </p:sp>
        <p:sp>
          <p:nvSpPr>
            <p:cNvPr id="284" name="Google Shape;284;p32"/>
            <p:cNvSpPr/>
            <p:nvPr/>
          </p:nvSpPr>
          <p:spPr>
            <a:xfrm>
              <a:off x="5167571" y="2502356"/>
              <a:ext cx="495531" cy="495549"/>
            </a:xfrm>
            <a:custGeom>
              <a:rect b="b" l="l" r="r" t="t"/>
              <a:pathLst>
                <a:path extrusionOk="0" h="28386" w="28385">
                  <a:moveTo>
                    <a:pt x="14192" y="1"/>
                  </a:moveTo>
                  <a:cubicBezTo>
                    <a:pt x="6346" y="1"/>
                    <a:pt x="0" y="6359"/>
                    <a:pt x="0" y="14193"/>
                  </a:cubicBezTo>
                  <a:cubicBezTo>
                    <a:pt x="0" y="22027"/>
                    <a:pt x="6346" y="28385"/>
                    <a:pt x="14192" y="28385"/>
                  </a:cubicBezTo>
                  <a:cubicBezTo>
                    <a:pt x="22027" y="28385"/>
                    <a:pt x="28385" y="22027"/>
                    <a:pt x="28385" y="14193"/>
                  </a:cubicBezTo>
                  <a:cubicBezTo>
                    <a:pt x="28385" y="6359"/>
                    <a:pt x="22027" y="1"/>
                    <a:pt x="14192" y="1"/>
                  </a:cubicBezTo>
                  <a:close/>
                </a:path>
              </a:pathLst>
            </a:custGeom>
            <a:solidFill>
              <a:srgbClr val="A4C2F4"/>
            </a:solidFill>
            <a:ln>
              <a:noFill/>
            </a:ln>
          </p:spPr>
          <p:txBody>
            <a:bodyPr anchorCtr="0" anchor="ctr" bIns="74425" lIns="74425" spcFirstLastPara="1" rIns="74425" wrap="square" tIns="74425">
              <a:noAutofit/>
            </a:bodyPr>
            <a:lstStyle/>
            <a:p>
              <a:pPr indent="0" lvl="0" marL="0" rtl="0" algn="ctr">
                <a:spcBef>
                  <a:spcPts val="0"/>
                </a:spcBef>
                <a:spcAft>
                  <a:spcPts val="0"/>
                </a:spcAft>
                <a:buNone/>
              </a:pPr>
              <a:r>
                <a:rPr lang="en" sz="2035">
                  <a:solidFill>
                    <a:schemeClr val="dk1"/>
                  </a:solidFill>
                  <a:latin typeface="Montserrat"/>
                  <a:ea typeface="Montserrat"/>
                  <a:cs typeface="Montserrat"/>
                  <a:sym typeface="Montserrat"/>
                </a:rPr>
                <a:t>2</a:t>
              </a:r>
              <a:endParaRPr sz="2035">
                <a:solidFill>
                  <a:schemeClr val="dk1"/>
                </a:solidFill>
                <a:latin typeface="Montserrat"/>
                <a:ea typeface="Montserrat"/>
                <a:cs typeface="Montserrat"/>
                <a:sym typeface="Montserrat"/>
              </a:endParaRPr>
            </a:p>
          </p:txBody>
        </p:sp>
        <p:sp>
          <p:nvSpPr>
            <p:cNvPr id="285" name="Google Shape;285;p32"/>
            <p:cNvSpPr/>
            <p:nvPr/>
          </p:nvSpPr>
          <p:spPr>
            <a:xfrm>
              <a:off x="3705782" y="2732114"/>
              <a:ext cx="936308" cy="907316"/>
            </a:xfrm>
            <a:custGeom>
              <a:rect b="b" l="l" r="r" t="t"/>
              <a:pathLst>
                <a:path extrusionOk="0" h="52797" w="54484">
                  <a:moveTo>
                    <a:pt x="27218" y="0"/>
                  </a:moveTo>
                  <a:lnTo>
                    <a:pt x="1763" y="1500"/>
                  </a:lnTo>
                  <a:lnTo>
                    <a:pt x="1525" y="1262"/>
                  </a:lnTo>
                  <a:lnTo>
                    <a:pt x="1513" y="1512"/>
                  </a:lnTo>
                  <a:lnTo>
                    <a:pt x="1263" y="1524"/>
                  </a:lnTo>
                  <a:lnTo>
                    <a:pt x="1501" y="1762"/>
                  </a:lnTo>
                  <a:lnTo>
                    <a:pt x="1" y="27206"/>
                  </a:lnTo>
                  <a:cubicBezTo>
                    <a:pt x="1" y="27206"/>
                    <a:pt x="293" y="27186"/>
                    <a:pt x="813" y="27186"/>
                  </a:cubicBezTo>
                  <a:cubicBezTo>
                    <a:pt x="4990" y="27186"/>
                    <a:pt x="23884" y="28476"/>
                    <a:pt x="24551" y="51768"/>
                  </a:cubicBezTo>
                  <a:cubicBezTo>
                    <a:pt x="27217" y="52516"/>
                    <a:pt x="30162" y="52797"/>
                    <a:pt x="33083" y="52797"/>
                  </a:cubicBezTo>
                  <a:cubicBezTo>
                    <a:pt x="40769" y="52797"/>
                    <a:pt x="48287" y="50852"/>
                    <a:pt x="50090" y="50352"/>
                  </a:cubicBezTo>
                  <a:lnTo>
                    <a:pt x="50233" y="50495"/>
                  </a:lnTo>
                  <a:cubicBezTo>
                    <a:pt x="50233" y="50495"/>
                    <a:pt x="50257" y="50423"/>
                    <a:pt x="50293" y="50292"/>
                  </a:cubicBezTo>
                  <a:cubicBezTo>
                    <a:pt x="50424" y="50256"/>
                    <a:pt x="50495" y="50233"/>
                    <a:pt x="50495" y="50233"/>
                  </a:cubicBezTo>
                  <a:lnTo>
                    <a:pt x="50352" y="50090"/>
                  </a:lnTo>
                  <a:cubicBezTo>
                    <a:pt x="51043" y="47601"/>
                    <a:pt x="54484" y="34231"/>
                    <a:pt x="51769" y="24551"/>
                  </a:cubicBezTo>
                  <a:cubicBezTo>
                    <a:pt x="26397" y="22944"/>
                    <a:pt x="27218" y="0"/>
                    <a:pt x="27218" y="0"/>
                  </a:cubicBezTo>
                  <a:close/>
                </a:path>
              </a:pathLst>
            </a:custGeom>
            <a:solidFill>
              <a:srgbClr val="C9DAF8"/>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1139"/>
            </a:p>
          </p:txBody>
        </p:sp>
        <p:sp>
          <p:nvSpPr>
            <p:cNvPr id="286" name="Google Shape;286;p32"/>
            <p:cNvSpPr/>
            <p:nvPr/>
          </p:nvSpPr>
          <p:spPr>
            <a:xfrm>
              <a:off x="4120022" y="3146344"/>
              <a:ext cx="907511" cy="907493"/>
            </a:xfrm>
            <a:custGeom>
              <a:rect b="b" l="l" r="r" t="t"/>
              <a:pathLst>
                <a:path extrusionOk="0" h="51983" w="51984">
                  <a:moveTo>
                    <a:pt x="25992" y="0"/>
                  </a:moveTo>
                  <a:cubicBezTo>
                    <a:pt x="11633" y="0"/>
                    <a:pt x="1" y="11633"/>
                    <a:pt x="1" y="25991"/>
                  </a:cubicBezTo>
                  <a:cubicBezTo>
                    <a:pt x="1" y="40350"/>
                    <a:pt x="11633" y="51983"/>
                    <a:pt x="25992" y="51983"/>
                  </a:cubicBezTo>
                  <a:cubicBezTo>
                    <a:pt x="40351" y="51983"/>
                    <a:pt x="51983" y="40350"/>
                    <a:pt x="51983" y="25991"/>
                  </a:cubicBezTo>
                  <a:cubicBezTo>
                    <a:pt x="51983" y="11633"/>
                    <a:pt x="40351" y="0"/>
                    <a:pt x="25992" y="0"/>
                  </a:cubicBezTo>
                  <a:close/>
                </a:path>
              </a:pathLst>
            </a:custGeom>
            <a:solidFill>
              <a:srgbClr val="FFFFFF"/>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590"/>
            </a:p>
          </p:txBody>
        </p:sp>
        <p:sp>
          <p:nvSpPr>
            <p:cNvPr id="287" name="Google Shape;287;p32"/>
            <p:cNvSpPr/>
            <p:nvPr/>
          </p:nvSpPr>
          <p:spPr>
            <a:xfrm>
              <a:off x="4142681" y="3168986"/>
              <a:ext cx="862191" cy="862191"/>
            </a:xfrm>
            <a:custGeom>
              <a:rect b="b" l="l" r="r" t="t"/>
              <a:pathLst>
                <a:path extrusionOk="0" h="49388" w="49388">
                  <a:moveTo>
                    <a:pt x="24694" y="1"/>
                  </a:moveTo>
                  <a:cubicBezTo>
                    <a:pt x="11061" y="1"/>
                    <a:pt x="0" y="11050"/>
                    <a:pt x="0" y="24694"/>
                  </a:cubicBezTo>
                  <a:cubicBezTo>
                    <a:pt x="0" y="38327"/>
                    <a:pt x="11061" y="49388"/>
                    <a:pt x="24694" y="49388"/>
                  </a:cubicBezTo>
                  <a:cubicBezTo>
                    <a:pt x="38327" y="49388"/>
                    <a:pt x="49388" y="38327"/>
                    <a:pt x="49388" y="24694"/>
                  </a:cubicBezTo>
                  <a:cubicBezTo>
                    <a:pt x="49388" y="11050"/>
                    <a:pt x="38327" y="1"/>
                    <a:pt x="24694" y="1"/>
                  </a:cubicBezTo>
                  <a:close/>
                </a:path>
              </a:pathLst>
            </a:custGeom>
            <a:solidFill>
              <a:schemeClr val="dk2"/>
            </a:solidFill>
            <a:ln cap="flat" cmpd="sng" w="9525">
              <a:solidFill>
                <a:srgbClr val="FFFFFF"/>
              </a:solidFill>
              <a:prstDash val="solid"/>
              <a:round/>
              <a:headEnd len="sm" w="sm" type="none"/>
              <a:tailEnd len="sm" w="sm" type="none"/>
            </a:ln>
          </p:spPr>
          <p:txBody>
            <a:bodyPr anchorCtr="0" anchor="ctr" bIns="74425" lIns="74425" spcFirstLastPara="1" rIns="74425" wrap="square" tIns="74425">
              <a:noAutofit/>
            </a:bodyPr>
            <a:lstStyle/>
            <a:p>
              <a:pPr indent="0" lvl="0" marL="0" rtl="0" algn="l">
                <a:spcBef>
                  <a:spcPts val="0"/>
                </a:spcBef>
                <a:spcAft>
                  <a:spcPts val="0"/>
                </a:spcAft>
                <a:buNone/>
              </a:pPr>
              <a:r>
                <a:t/>
              </a:r>
              <a:endParaRPr sz="1139"/>
            </a:p>
          </p:txBody>
        </p:sp>
        <p:sp>
          <p:nvSpPr>
            <p:cNvPr id="288" name="Google Shape;288;p32"/>
            <p:cNvSpPr/>
            <p:nvPr/>
          </p:nvSpPr>
          <p:spPr>
            <a:xfrm>
              <a:off x="4296287" y="3322589"/>
              <a:ext cx="554974" cy="554991"/>
            </a:xfrm>
            <a:custGeom>
              <a:rect b="b" l="l" r="r" t="t"/>
              <a:pathLst>
                <a:path extrusionOk="0" h="31791" w="31790">
                  <a:moveTo>
                    <a:pt x="15895" y="1"/>
                  </a:moveTo>
                  <a:cubicBezTo>
                    <a:pt x="7120" y="1"/>
                    <a:pt x="0" y="7121"/>
                    <a:pt x="0" y="15895"/>
                  </a:cubicBezTo>
                  <a:cubicBezTo>
                    <a:pt x="0" y="24670"/>
                    <a:pt x="7120" y="31790"/>
                    <a:pt x="15895" y="31790"/>
                  </a:cubicBezTo>
                  <a:cubicBezTo>
                    <a:pt x="24670" y="31790"/>
                    <a:pt x="31790" y="24670"/>
                    <a:pt x="31790" y="15895"/>
                  </a:cubicBezTo>
                  <a:cubicBezTo>
                    <a:pt x="31790" y="7121"/>
                    <a:pt x="24670" y="1"/>
                    <a:pt x="15895" y="1"/>
                  </a:cubicBezTo>
                  <a:close/>
                </a:path>
              </a:pathLst>
            </a:custGeom>
            <a:solidFill>
              <a:srgbClr val="EEEEEE"/>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a:p>
          </p:txBody>
        </p:sp>
        <p:sp>
          <p:nvSpPr>
            <p:cNvPr id="289" name="Google Shape;289;p32"/>
            <p:cNvSpPr/>
            <p:nvPr/>
          </p:nvSpPr>
          <p:spPr>
            <a:xfrm>
              <a:off x="4326209" y="3352528"/>
              <a:ext cx="495130" cy="495112"/>
            </a:xfrm>
            <a:custGeom>
              <a:rect b="b" l="l" r="r" t="t"/>
              <a:pathLst>
                <a:path extrusionOk="0" h="28361" w="28362">
                  <a:moveTo>
                    <a:pt x="14181" y="0"/>
                  </a:moveTo>
                  <a:cubicBezTo>
                    <a:pt x="6347" y="0"/>
                    <a:pt x="1" y="6346"/>
                    <a:pt x="1" y="14180"/>
                  </a:cubicBezTo>
                  <a:cubicBezTo>
                    <a:pt x="1" y="22015"/>
                    <a:pt x="6347" y="28361"/>
                    <a:pt x="14181" y="28361"/>
                  </a:cubicBezTo>
                  <a:cubicBezTo>
                    <a:pt x="22015" y="28361"/>
                    <a:pt x="28361" y="22015"/>
                    <a:pt x="28361" y="14180"/>
                  </a:cubicBezTo>
                  <a:cubicBezTo>
                    <a:pt x="28361" y="6346"/>
                    <a:pt x="22015" y="0"/>
                    <a:pt x="14181" y="0"/>
                  </a:cubicBezTo>
                  <a:close/>
                </a:path>
              </a:pathLst>
            </a:custGeom>
            <a:solidFill>
              <a:srgbClr val="A4C2F4"/>
            </a:solidFill>
            <a:ln>
              <a:noFill/>
            </a:ln>
          </p:spPr>
          <p:txBody>
            <a:bodyPr anchorCtr="0" anchor="ctr" bIns="74425" lIns="74425" spcFirstLastPara="1" rIns="74425" wrap="square" tIns="74425">
              <a:noAutofit/>
            </a:bodyPr>
            <a:lstStyle/>
            <a:p>
              <a:pPr indent="0" lvl="0" marL="0" rtl="0" algn="ctr">
                <a:spcBef>
                  <a:spcPts val="0"/>
                </a:spcBef>
                <a:spcAft>
                  <a:spcPts val="0"/>
                </a:spcAft>
                <a:buNone/>
              </a:pPr>
              <a:r>
                <a:rPr lang="en" sz="2035">
                  <a:solidFill>
                    <a:schemeClr val="dk1"/>
                  </a:solidFill>
                  <a:latin typeface="Montserrat"/>
                  <a:ea typeface="Montserrat"/>
                  <a:cs typeface="Montserrat"/>
                  <a:sym typeface="Montserrat"/>
                </a:rPr>
                <a:t>3</a:t>
              </a:r>
              <a:endParaRPr sz="2035">
                <a:solidFill>
                  <a:schemeClr val="dk1"/>
                </a:solidFill>
                <a:latin typeface="Montserrat"/>
                <a:ea typeface="Montserrat"/>
                <a:cs typeface="Montserrat"/>
                <a:sym typeface="Montserrat"/>
              </a:endParaRPr>
            </a:p>
          </p:txBody>
        </p:sp>
        <p:sp>
          <p:nvSpPr>
            <p:cNvPr id="290" name="Google Shape;290;p32"/>
            <p:cNvSpPr/>
            <p:nvPr/>
          </p:nvSpPr>
          <p:spPr>
            <a:xfrm>
              <a:off x="3274963" y="2296391"/>
              <a:ext cx="907511" cy="907511"/>
            </a:xfrm>
            <a:custGeom>
              <a:rect b="b" l="l" r="r" t="t"/>
              <a:pathLst>
                <a:path extrusionOk="0" h="51984" w="51984">
                  <a:moveTo>
                    <a:pt x="25992" y="1"/>
                  </a:moveTo>
                  <a:cubicBezTo>
                    <a:pt x="11633" y="1"/>
                    <a:pt x="1" y="11633"/>
                    <a:pt x="1" y="25992"/>
                  </a:cubicBezTo>
                  <a:cubicBezTo>
                    <a:pt x="1" y="40351"/>
                    <a:pt x="11633" y="51983"/>
                    <a:pt x="25992" y="51983"/>
                  </a:cubicBezTo>
                  <a:cubicBezTo>
                    <a:pt x="40339" y="51983"/>
                    <a:pt x="51984" y="40351"/>
                    <a:pt x="51984" y="25992"/>
                  </a:cubicBezTo>
                  <a:cubicBezTo>
                    <a:pt x="51984" y="11633"/>
                    <a:pt x="40339" y="1"/>
                    <a:pt x="25992" y="1"/>
                  </a:cubicBezTo>
                  <a:close/>
                </a:path>
              </a:pathLst>
            </a:custGeom>
            <a:solidFill>
              <a:srgbClr val="FFFFFF"/>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590"/>
            </a:p>
          </p:txBody>
        </p:sp>
        <p:sp>
          <p:nvSpPr>
            <p:cNvPr id="291" name="Google Shape;291;p32"/>
            <p:cNvSpPr/>
            <p:nvPr/>
          </p:nvSpPr>
          <p:spPr>
            <a:xfrm>
              <a:off x="3297622" y="2319050"/>
              <a:ext cx="861982" cy="862191"/>
            </a:xfrm>
            <a:custGeom>
              <a:rect b="b" l="l" r="r" t="t"/>
              <a:pathLst>
                <a:path extrusionOk="0" h="49388" w="49376">
                  <a:moveTo>
                    <a:pt x="24694" y="0"/>
                  </a:moveTo>
                  <a:cubicBezTo>
                    <a:pt x="11050" y="0"/>
                    <a:pt x="1" y="11061"/>
                    <a:pt x="1" y="24694"/>
                  </a:cubicBezTo>
                  <a:cubicBezTo>
                    <a:pt x="1" y="38327"/>
                    <a:pt x="11050" y="49387"/>
                    <a:pt x="24694" y="49387"/>
                  </a:cubicBezTo>
                  <a:cubicBezTo>
                    <a:pt x="38327" y="49387"/>
                    <a:pt x="49376" y="38327"/>
                    <a:pt x="49376" y="24694"/>
                  </a:cubicBezTo>
                  <a:cubicBezTo>
                    <a:pt x="49376" y="11061"/>
                    <a:pt x="38327" y="0"/>
                    <a:pt x="24694" y="0"/>
                  </a:cubicBezTo>
                  <a:close/>
                </a:path>
              </a:pathLst>
            </a:custGeom>
            <a:solidFill>
              <a:schemeClr val="dk2"/>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727"/>
            </a:p>
          </p:txBody>
        </p:sp>
        <p:sp>
          <p:nvSpPr>
            <p:cNvPr id="292" name="Google Shape;292;p32"/>
            <p:cNvSpPr/>
            <p:nvPr/>
          </p:nvSpPr>
          <p:spPr>
            <a:xfrm>
              <a:off x="3451228" y="2472650"/>
              <a:ext cx="554991" cy="554974"/>
            </a:xfrm>
            <a:custGeom>
              <a:rect b="b" l="l" r="r" t="t"/>
              <a:pathLst>
                <a:path extrusionOk="0" h="31790" w="31791">
                  <a:moveTo>
                    <a:pt x="15895" y="0"/>
                  </a:moveTo>
                  <a:cubicBezTo>
                    <a:pt x="7108" y="0"/>
                    <a:pt x="0" y="7120"/>
                    <a:pt x="0" y="15895"/>
                  </a:cubicBezTo>
                  <a:cubicBezTo>
                    <a:pt x="0" y="24670"/>
                    <a:pt x="7108" y="31790"/>
                    <a:pt x="15895" y="31790"/>
                  </a:cubicBezTo>
                  <a:cubicBezTo>
                    <a:pt x="24670" y="31790"/>
                    <a:pt x="31790" y="24670"/>
                    <a:pt x="31790" y="15895"/>
                  </a:cubicBezTo>
                  <a:cubicBezTo>
                    <a:pt x="31790" y="7120"/>
                    <a:pt x="24670" y="0"/>
                    <a:pt x="15895" y="0"/>
                  </a:cubicBezTo>
                  <a:close/>
                </a:path>
              </a:pathLst>
            </a:custGeom>
            <a:solidFill>
              <a:srgbClr val="EEEEEE"/>
            </a:solidFill>
            <a:ln>
              <a:noFill/>
            </a:ln>
          </p:spPr>
          <p:txBody>
            <a:bodyPr anchorCtr="0" anchor="ctr" bIns="74425" lIns="74425" spcFirstLastPara="1" rIns="74425" wrap="square" tIns="74425">
              <a:noAutofit/>
            </a:bodyPr>
            <a:lstStyle/>
            <a:p>
              <a:pPr indent="0" lvl="0" marL="0" rtl="0" algn="l">
                <a:spcBef>
                  <a:spcPts val="0"/>
                </a:spcBef>
                <a:spcAft>
                  <a:spcPts val="0"/>
                </a:spcAft>
                <a:buNone/>
              </a:pPr>
              <a:r>
                <a:t/>
              </a:r>
              <a:endParaRPr sz="727"/>
            </a:p>
          </p:txBody>
        </p:sp>
        <p:sp>
          <p:nvSpPr>
            <p:cNvPr id="293" name="Google Shape;293;p32"/>
            <p:cNvSpPr/>
            <p:nvPr/>
          </p:nvSpPr>
          <p:spPr>
            <a:xfrm>
              <a:off x="3480940" y="2502361"/>
              <a:ext cx="495549" cy="495549"/>
            </a:xfrm>
            <a:custGeom>
              <a:rect b="b" l="l" r="r" t="t"/>
              <a:pathLst>
                <a:path extrusionOk="0" h="28386" w="28386">
                  <a:moveTo>
                    <a:pt x="14193" y="1"/>
                  </a:moveTo>
                  <a:cubicBezTo>
                    <a:pt x="6347" y="1"/>
                    <a:pt x="1" y="6359"/>
                    <a:pt x="1" y="14193"/>
                  </a:cubicBezTo>
                  <a:cubicBezTo>
                    <a:pt x="1" y="22027"/>
                    <a:pt x="6347" y="28385"/>
                    <a:pt x="14193" y="28385"/>
                  </a:cubicBezTo>
                  <a:cubicBezTo>
                    <a:pt x="22028" y="28385"/>
                    <a:pt x="28385" y="22027"/>
                    <a:pt x="28385" y="14193"/>
                  </a:cubicBezTo>
                  <a:cubicBezTo>
                    <a:pt x="28385" y="6359"/>
                    <a:pt x="22028" y="1"/>
                    <a:pt x="14193" y="1"/>
                  </a:cubicBezTo>
                  <a:close/>
                </a:path>
              </a:pathLst>
            </a:custGeom>
            <a:solidFill>
              <a:srgbClr val="A4C2F4"/>
            </a:solidFill>
            <a:ln>
              <a:noFill/>
            </a:ln>
          </p:spPr>
          <p:txBody>
            <a:bodyPr anchorCtr="0" anchor="ctr" bIns="74425" lIns="74425" spcFirstLastPara="1" rIns="74425" wrap="square" tIns="74425">
              <a:noAutofit/>
            </a:bodyPr>
            <a:lstStyle/>
            <a:p>
              <a:pPr indent="0" lvl="0" marL="0" rtl="0" algn="ctr">
                <a:spcBef>
                  <a:spcPts val="0"/>
                </a:spcBef>
                <a:spcAft>
                  <a:spcPts val="0"/>
                </a:spcAft>
                <a:buNone/>
              </a:pPr>
              <a:r>
                <a:rPr lang="en" sz="2035">
                  <a:solidFill>
                    <a:schemeClr val="dk1"/>
                  </a:solidFill>
                  <a:latin typeface="Montserrat"/>
                  <a:ea typeface="Montserrat"/>
                  <a:cs typeface="Montserrat"/>
                  <a:sym typeface="Montserrat"/>
                </a:rPr>
                <a:t>1</a:t>
              </a:r>
              <a:endParaRPr sz="2035">
                <a:solidFill>
                  <a:schemeClr val="dk1"/>
                </a:solidFill>
                <a:latin typeface="Montserrat"/>
                <a:ea typeface="Montserrat"/>
                <a:cs typeface="Montserrat"/>
                <a:sym typeface="Montserrat"/>
              </a:endParaRPr>
            </a:p>
          </p:txBody>
        </p:sp>
      </p:grpSp>
      <p:sp>
        <p:nvSpPr>
          <p:cNvPr id="294" name="Google Shape;294;p32"/>
          <p:cNvSpPr/>
          <p:nvPr/>
        </p:nvSpPr>
        <p:spPr>
          <a:xfrm flipH="1">
            <a:off x="3017302" y="1631899"/>
            <a:ext cx="524800" cy="400457"/>
          </a:xfrm>
          <a:custGeom>
            <a:rect b="b" l="l" r="r" t="t"/>
            <a:pathLst>
              <a:path extrusionOk="0" h="17618" w="25252">
                <a:moveTo>
                  <a:pt x="0" y="0"/>
                </a:moveTo>
                <a:lnTo>
                  <a:pt x="14877" y="0"/>
                </a:lnTo>
                <a:lnTo>
                  <a:pt x="14877" y="17618"/>
                </a:lnTo>
                <a:lnTo>
                  <a:pt x="25252" y="17618"/>
                </a:lnTo>
              </a:path>
            </a:pathLst>
          </a:custGeom>
          <a:noFill/>
          <a:ln cap="flat" cmpd="sng" w="19050">
            <a:solidFill>
              <a:srgbClr val="3C78D8"/>
            </a:solidFill>
            <a:prstDash val="solid"/>
            <a:round/>
            <a:headEnd len="med" w="med" type="none"/>
            <a:tailEnd len="med" w="med" type="oval"/>
          </a:ln>
        </p:spPr>
      </p:sp>
      <p:sp>
        <p:nvSpPr>
          <p:cNvPr id="295" name="Google Shape;295;p32"/>
          <p:cNvSpPr/>
          <p:nvPr/>
        </p:nvSpPr>
        <p:spPr>
          <a:xfrm>
            <a:off x="5668223" y="1646475"/>
            <a:ext cx="524800" cy="400457"/>
          </a:xfrm>
          <a:custGeom>
            <a:rect b="b" l="l" r="r" t="t"/>
            <a:pathLst>
              <a:path extrusionOk="0" h="17618" w="25252">
                <a:moveTo>
                  <a:pt x="0" y="0"/>
                </a:moveTo>
                <a:lnTo>
                  <a:pt x="14877" y="0"/>
                </a:lnTo>
                <a:lnTo>
                  <a:pt x="14877" y="17618"/>
                </a:lnTo>
                <a:lnTo>
                  <a:pt x="25252" y="17618"/>
                </a:lnTo>
              </a:path>
            </a:pathLst>
          </a:custGeom>
          <a:noFill/>
          <a:ln cap="flat" cmpd="sng" w="19050">
            <a:solidFill>
              <a:srgbClr val="3C78D8"/>
            </a:solidFill>
            <a:prstDash val="solid"/>
            <a:round/>
            <a:headEnd len="med" w="med" type="none"/>
            <a:tailEnd len="med" w="med" type="oval"/>
          </a:ln>
        </p:spPr>
      </p:sp>
      <p:cxnSp>
        <p:nvCxnSpPr>
          <p:cNvPr id="296" name="Google Shape;296;p32"/>
          <p:cNvCxnSpPr/>
          <p:nvPr/>
        </p:nvCxnSpPr>
        <p:spPr>
          <a:xfrm flipH="1">
            <a:off x="4620593" y="2591461"/>
            <a:ext cx="600" cy="464100"/>
          </a:xfrm>
          <a:prstGeom prst="straightConnector1">
            <a:avLst/>
          </a:prstGeom>
          <a:noFill/>
          <a:ln cap="flat" cmpd="sng" w="19050">
            <a:solidFill>
              <a:srgbClr val="3C78D8"/>
            </a:solidFill>
            <a:prstDash val="solid"/>
            <a:round/>
            <a:headEnd len="med" w="med" type="none"/>
            <a:tailEnd len="med" w="med" type="oval"/>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Machine Learning Approach</a:t>
            </a:r>
            <a:endParaRPr sz="2200"/>
          </a:p>
        </p:txBody>
      </p:sp>
      <p:sp>
        <p:nvSpPr>
          <p:cNvPr id="302" name="Google Shape;302;p33"/>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03" name="Google Shape;303;p33"/>
          <p:cNvSpPr txBox="1"/>
          <p:nvPr/>
        </p:nvSpPr>
        <p:spPr>
          <a:xfrm>
            <a:off x="239700" y="1170750"/>
            <a:ext cx="3153000" cy="2499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u="sng">
                <a:solidFill>
                  <a:schemeClr val="accent1"/>
                </a:solidFill>
                <a:latin typeface="Montserrat"/>
                <a:ea typeface="Montserrat"/>
                <a:cs typeface="Montserrat"/>
                <a:sym typeface="Montserrat"/>
              </a:rPr>
              <a:t>Goal:</a:t>
            </a:r>
            <a:r>
              <a:rPr lang="en">
                <a:solidFill>
                  <a:schemeClr val="dk1"/>
                </a:solidFill>
                <a:latin typeface="Montserrat"/>
                <a:ea typeface="Montserrat"/>
                <a:cs typeface="Montserrat"/>
                <a:sym typeface="Montserrat"/>
              </a:rPr>
              <a:t> Predict rider demand in 15-minute intervals for each Chicago community area</a:t>
            </a:r>
            <a:endParaRPr>
              <a:solidFill>
                <a:schemeClr val="dk1"/>
              </a:solidFill>
              <a:latin typeface="Montserrat"/>
              <a:ea typeface="Montserrat"/>
              <a:cs typeface="Montserrat"/>
              <a:sym typeface="Montserrat"/>
            </a:endParaRPr>
          </a:p>
          <a:p>
            <a:pPr indent="0" lvl="0" marL="0" rtl="0" algn="l">
              <a:lnSpc>
                <a:spcPct val="115000"/>
              </a:lnSpc>
              <a:spcBef>
                <a:spcPts val="900"/>
              </a:spcBef>
              <a:spcAft>
                <a:spcPts val="0"/>
              </a:spcAft>
              <a:buClr>
                <a:schemeClr val="dk1"/>
              </a:buClr>
              <a:buSzPts val="1100"/>
              <a:buFont typeface="Arial"/>
              <a:buNone/>
            </a:pPr>
            <a:r>
              <a:t/>
            </a:r>
            <a:endParaRPr>
              <a:solidFill>
                <a:schemeClr val="dk1"/>
              </a:solidFill>
              <a:latin typeface="Montserrat"/>
              <a:ea typeface="Montserrat"/>
              <a:cs typeface="Montserrat"/>
              <a:sym typeface="Montserrat"/>
            </a:endParaRPr>
          </a:p>
          <a:p>
            <a:pPr indent="0" lvl="0" marL="0" rtl="0" algn="l">
              <a:spcBef>
                <a:spcPts val="900"/>
              </a:spcBef>
              <a:spcAft>
                <a:spcPts val="0"/>
              </a:spcAft>
              <a:buNone/>
            </a:pPr>
            <a:r>
              <a:rPr b="1" lang="en" u="sng">
                <a:solidFill>
                  <a:schemeClr val="accent1"/>
                </a:solidFill>
                <a:latin typeface="Montserrat"/>
                <a:ea typeface="Montserrat"/>
                <a:cs typeface="Montserrat"/>
                <a:sym typeface="Montserrat"/>
              </a:rPr>
              <a:t>Pipeline stages</a:t>
            </a:r>
            <a:endParaRPr b="1" u="sng">
              <a:solidFill>
                <a:schemeClr val="accent1"/>
              </a:solidFill>
              <a:latin typeface="Montserrat"/>
              <a:ea typeface="Montserrat"/>
              <a:cs typeface="Montserrat"/>
              <a:sym typeface="Montserrat"/>
            </a:endParaRPr>
          </a:p>
          <a:p>
            <a:pPr indent="0" lvl="0" marL="0" rtl="0" algn="l">
              <a:spcBef>
                <a:spcPts val="200"/>
              </a:spcBef>
              <a:spcAft>
                <a:spcPts val="0"/>
              </a:spcAft>
              <a:buNone/>
            </a:pPr>
            <a:r>
              <a:rPr lang="en">
                <a:solidFill>
                  <a:schemeClr val="dk1"/>
                </a:solidFill>
                <a:latin typeface="Montserrat"/>
                <a:ea typeface="Montserrat"/>
                <a:cs typeface="Montserrat"/>
                <a:sym typeface="Montserrat"/>
              </a:rPr>
              <a:t>Data Preparation and Feature Engineering </a:t>
            </a:r>
            <a:r>
              <a:rPr lang="en">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StringIndexer → OneHotEncoder → VectorAssembler → RandomForestRegressor</a:t>
            </a:r>
            <a:endParaRPr>
              <a:solidFill>
                <a:schemeClr val="dk2"/>
              </a:solidFill>
              <a:latin typeface="Montserrat"/>
              <a:ea typeface="Montserrat"/>
              <a:cs typeface="Montserrat"/>
              <a:sym typeface="Montserrat"/>
            </a:endParaRPr>
          </a:p>
        </p:txBody>
      </p:sp>
      <p:sp>
        <p:nvSpPr>
          <p:cNvPr id="304" name="Google Shape;304;p33"/>
          <p:cNvSpPr txBox="1"/>
          <p:nvPr/>
        </p:nvSpPr>
        <p:spPr>
          <a:xfrm>
            <a:off x="3468300" y="439925"/>
            <a:ext cx="5480100" cy="4351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u="sng">
                <a:solidFill>
                  <a:schemeClr val="accent1"/>
                </a:solidFill>
                <a:latin typeface="Montserrat"/>
                <a:ea typeface="Montserrat"/>
                <a:cs typeface="Montserrat"/>
                <a:sym typeface="Montserrat"/>
              </a:rPr>
              <a:t>Data Preparation &amp; Feature Engineering</a:t>
            </a:r>
            <a:endParaRPr>
              <a:solidFill>
                <a:schemeClr val="dk1"/>
              </a:solidFill>
              <a:latin typeface="Montserrat"/>
              <a:ea typeface="Montserrat"/>
              <a:cs typeface="Montserrat"/>
              <a:sym typeface="Montserrat"/>
            </a:endParaRPr>
          </a:p>
          <a:p>
            <a:pPr indent="-317500" lvl="0" marL="457200" rtl="0" algn="l">
              <a:lnSpc>
                <a:spcPct val="115000"/>
              </a:lnSpc>
              <a:spcBef>
                <a:spcPts val="200"/>
              </a:spcBef>
              <a:spcAft>
                <a:spcPts val="0"/>
              </a:spcAft>
              <a:buClr>
                <a:schemeClr val="dk1"/>
              </a:buClr>
              <a:buSzPts val="1400"/>
              <a:buChar char="●"/>
            </a:pPr>
            <a:r>
              <a:rPr lang="en">
                <a:solidFill>
                  <a:schemeClr val="dk1"/>
                </a:solidFill>
                <a:latin typeface="Montserrat"/>
                <a:ea typeface="Montserrat"/>
                <a:cs typeface="Montserrat"/>
                <a:sym typeface="Montserrat"/>
              </a:rPr>
              <a:t>Built lagged weather features:</a:t>
            </a:r>
            <a:endParaRPr>
              <a:solidFill>
                <a:schemeClr val="dk1"/>
              </a:solidFill>
              <a:latin typeface="Montserrat"/>
              <a:ea typeface="Montserrat"/>
              <a:cs typeface="Montserrat"/>
              <a:sym typeface="Montserrat"/>
            </a:endParaRPr>
          </a:p>
          <a:p>
            <a:pPr indent="-317500" lvl="1" marL="914400" rtl="0" algn="l">
              <a:lnSpc>
                <a:spcPct val="115000"/>
              </a:lnSpc>
              <a:spcBef>
                <a:spcPts val="4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Precipitation and Temperature</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Char char="●"/>
            </a:pPr>
            <a:r>
              <a:rPr lang="en">
                <a:solidFill>
                  <a:schemeClr val="dk1"/>
                </a:solidFill>
                <a:latin typeface="Montserrat"/>
                <a:ea typeface="Montserrat"/>
                <a:cs typeface="Montserrat"/>
                <a:sym typeface="Montserrat"/>
              </a:rPr>
              <a:t>Encoded community areas using StringIndexer + OneHotEncoder</a:t>
            </a:r>
            <a:endParaRPr>
              <a:solidFill>
                <a:schemeClr val="dk1"/>
              </a:solidFill>
              <a:latin typeface="Montserrat"/>
              <a:ea typeface="Montserrat"/>
              <a:cs typeface="Montserrat"/>
              <a:sym typeface="Montserrat"/>
            </a:endParaRPr>
          </a:p>
          <a:p>
            <a:pPr indent="0" lvl="0" marL="0" rtl="0" algn="l">
              <a:lnSpc>
                <a:spcPct val="115000"/>
              </a:lnSpc>
              <a:spcBef>
                <a:spcPts val="1400"/>
              </a:spcBef>
              <a:spcAft>
                <a:spcPts val="0"/>
              </a:spcAft>
              <a:buClr>
                <a:schemeClr val="dk1"/>
              </a:buClr>
              <a:buSzPts val="1100"/>
              <a:buFont typeface="Arial"/>
              <a:buNone/>
            </a:pPr>
            <a:r>
              <a:rPr b="1" lang="en" u="sng">
                <a:solidFill>
                  <a:schemeClr val="accent1"/>
                </a:solidFill>
                <a:latin typeface="Montserrat"/>
                <a:ea typeface="Montserrat"/>
                <a:cs typeface="Montserrat"/>
                <a:sym typeface="Montserrat"/>
              </a:rPr>
              <a:t>Train / Test Strategy</a:t>
            </a:r>
            <a:endParaRPr b="1" u="sng">
              <a:solidFill>
                <a:schemeClr val="accent1"/>
              </a:solidFill>
              <a:latin typeface="Montserrat"/>
              <a:ea typeface="Montserrat"/>
              <a:cs typeface="Montserrat"/>
              <a:sym typeface="Montserrat"/>
            </a:endParaRPr>
          </a:p>
          <a:p>
            <a:pPr indent="-317500" lvl="0" marL="457200" rtl="0" algn="l">
              <a:lnSpc>
                <a:spcPct val="115000"/>
              </a:lnSpc>
              <a:spcBef>
                <a:spcPts val="2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Time-based split to respect chronological order:</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Training: Feb 2021 → July 2022</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Testing: July 2022 → End</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1000"/>
              </a:spcAft>
              <a:buClr>
                <a:schemeClr val="dk1"/>
              </a:buClr>
              <a:buSzPts val="1400"/>
              <a:buFont typeface="Montserrat"/>
              <a:buChar char="●"/>
            </a:pPr>
            <a:r>
              <a:rPr lang="en">
                <a:solidFill>
                  <a:schemeClr val="dk1"/>
                </a:solidFill>
                <a:latin typeface="Montserrat"/>
                <a:ea typeface="Montserrat"/>
                <a:cs typeface="Montserrat"/>
                <a:sym typeface="Montserrat"/>
              </a:rPr>
              <a:t>~75% training data (~3.9M rows)</a:t>
            </a:r>
            <a:endParaRPr>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Machine Learning Findings &amp; Application</a:t>
            </a:r>
            <a:endParaRPr sz="2200"/>
          </a:p>
        </p:txBody>
      </p:sp>
      <p:sp>
        <p:nvSpPr>
          <p:cNvPr id="310" name="Google Shape;310;p34"/>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11" name="Google Shape;311;p34"/>
          <p:cNvSpPr txBox="1"/>
          <p:nvPr/>
        </p:nvSpPr>
        <p:spPr>
          <a:xfrm>
            <a:off x="230150" y="572700"/>
            <a:ext cx="4737900" cy="217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u="sng">
                <a:solidFill>
                  <a:schemeClr val="accent1"/>
                </a:solidFill>
                <a:latin typeface="Montserrat"/>
                <a:ea typeface="Montserrat"/>
                <a:cs typeface="Montserrat"/>
                <a:sym typeface="Montserrat"/>
              </a:rPr>
              <a:t>Insights from Feature Importances</a:t>
            </a:r>
            <a:endParaRPr b="1" sz="1300" u="sng">
              <a:solidFill>
                <a:schemeClr val="accent1"/>
              </a:solidFill>
              <a:latin typeface="Montserrat"/>
              <a:ea typeface="Montserrat"/>
              <a:cs typeface="Montserrat"/>
              <a:sym typeface="Montserrat"/>
            </a:endParaRPr>
          </a:p>
          <a:p>
            <a:pPr indent="-298450" lvl="0" marL="457200" rtl="0" algn="l">
              <a:lnSpc>
                <a:spcPct val="115000"/>
              </a:lnSpc>
              <a:spcBef>
                <a:spcPts val="400"/>
              </a:spcBef>
              <a:spcAft>
                <a:spcPts val="0"/>
              </a:spcAft>
              <a:buClr>
                <a:schemeClr val="dk1"/>
              </a:buClr>
              <a:buSzPts val="1100"/>
              <a:buChar char="●"/>
            </a:pPr>
            <a:r>
              <a:rPr b="1" lang="en" sz="1100">
                <a:solidFill>
                  <a:schemeClr val="dk1"/>
                </a:solidFill>
                <a:latin typeface="Montserrat"/>
                <a:ea typeface="Montserrat"/>
                <a:cs typeface="Montserrat"/>
                <a:sym typeface="Montserrat"/>
              </a:rPr>
              <a:t>Community Area (location)</a:t>
            </a:r>
            <a:r>
              <a:rPr lang="en" sz="1100">
                <a:solidFill>
                  <a:schemeClr val="dk1"/>
                </a:solidFill>
                <a:latin typeface="Montserrat"/>
                <a:ea typeface="Montserrat"/>
                <a:cs typeface="Montserrat"/>
                <a:sym typeface="Montserrat"/>
              </a:rPr>
              <a:t> dominates demand prediction</a:t>
            </a:r>
            <a:endParaRPr sz="1100">
              <a:solidFill>
                <a:schemeClr val="dk1"/>
              </a:solidFill>
              <a:latin typeface="Montserrat"/>
              <a:ea typeface="Montserrat"/>
              <a:cs typeface="Montserrat"/>
              <a:sym typeface="Montserrat"/>
            </a:endParaRPr>
          </a:p>
          <a:p>
            <a:pPr indent="-298450" lvl="0" marL="457200" rtl="0" algn="l">
              <a:lnSpc>
                <a:spcPct val="115000"/>
              </a:lnSpc>
              <a:spcBef>
                <a:spcPts val="600"/>
              </a:spcBef>
              <a:spcAft>
                <a:spcPts val="0"/>
              </a:spcAft>
              <a:buClr>
                <a:schemeClr val="dk1"/>
              </a:buClr>
              <a:buSzPts val="1100"/>
              <a:buChar char="●"/>
            </a:pPr>
            <a:r>
              <a:rPr b="1" lang="en" sz="1100">
                <a:solidFill>
                  <a:schemeClr val="dk1"/>
                </a:solidFill>
                <a:latin typeface="Montserrat"/>
                <a:ea typeface="Montserrat"/>
                <a:cs typeface="Montserrat"/>
                <a:sym typeface="Montserrat"/>
              </a:rPr>
              <a:t>Minute bucket, year, and hour</a:t>
            </a:r>
            <a:r>
              <a:rPr lang="en" sz="1100">
                <a:solidFill>
                  <a:schemeClr val="dk1"/>
                </a:solidFill>
                <a:latin typeface="Montserrat"/>
                <a:ea typeface="Montserrat"/>
                <a:cs typeface="Montserrat"/>
                <a:sym typeface="Montserrat"/>
              </a:rPr>
              <a:t> are key temporal drivers</a:t>
            </a:r>
            <a:endParaRPr sz="1100">
              <a:solidFill>
                <a:schemeClr val="dk1"/>
              </a:solidFill>
              <a:latin typeface="Montserrat"/>
              <a:ea typeface="Montserrat"/>
              <a:cs typeface="Montserrat"/>
              <a:sym typeface="Montserrat"/>
            </a:endParaRPr>
          </a:p>
          <a:p>
            <a:pPr indent="-298450" lvl="0" marL="457200" rtl="0" algn="l">
              <a:lnSpc>
                <a:spcPct val="115000"/>
              </a:lnSpc>
              <a:spcBef>
                <a:spcPts val="6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Weather features (temperature, precipitation) had comparatively low importance</a:t>
            </a:r>
            <a:endParaRPr sz="1100">
              <a:solidFill>
                <a:schemeClr val="dk1"/>
              </a:solidFill>
              <a:latin typeface="Montserrat"/>
              <a:ea typeface="Montserrat"/>
              <a:cs typeface="Montserrat"/>
              <a:sym typeface="Montserrat"/>
            </a:endParaRPr>
          </a:p>
          <a:p>
            <a:pPr indent="-298450" lvl="1" marL="914400" rtl="0" algn="l">
              <a:lnSpc>
                <a:spcPct val="115000"/>
              </a:lnSpc>
              <a:spcBef>
                <a:spcPts val="200"/>
              </a:spcBef>
              <a:spcAft>
                <a:spcPts val="1200"/>
              </a:spcAft>
              <a:buClr>
                <a:schemeClr val="dk1"/>
              </a:buClr>
              <a:buSzPts val="1100"/>
              <a:buFont typeface="Montserrat"/>
              <a:buChar char="○"/>
            </a:pPr>
            <a:r>
              <a:rPr lang="en" sz="1100">
                <a:solidFill>
                  <a:schemeClr val="dk1"/>
                </a:solidFill>
                <a:latin typeface="Montserrat"/>
                <a:ea typeface="Montserrat"/>
                <a:cs typeface="Montserrat"/>
                <a:sym typeface="Montserrat"/>
              </a:rPr>
              <a:t>May suggest </a:t>
            </a:r>
            <a:r>
              <a:rPr i="1" lang="en" sz="1100">
                <a:solidFill>
                  <a:schemeClr val="dk1"/>
                </a:solidFill>
                <a:latin typeface="Montserrat"/>
                <a:ea typeface="Montserrat"/>
                <a:cs typeface="Montserrat"/>
                <a:sym typeface="Montserrat"/>
              </a:rPr>
              <a:t>behavioral + location factors outweigh weather variations, although Random Forest captures non linear relationships between columns</a:t>
            </a:r>
            <a:endParaRPr i="1" sz="1100">
              <a:solidFill>
                <a:schemeClr val="dk1"/>
              </a:solidFill>
              <a:latin typeface="Montserrat"/>
              <a:ea typeface="Montserrat"/>
              <a:cs typeface="Montserrat"/>
              <a:sym typeface="Montserrat"/>
            </a:endParaRPr>
          </a:p>
        </p:txBody>
      </p:sp>
      <p:sp>
        <p:nvSpPr>
          <p:cNvPr id="312" name="Google Shape;312;p34"/>
          <p:cNvSpPr txBox="1"/>
          <p:nvPr/>
        </p:nvSpPr>
        <p:spPr>
          <a:xfrm>
            <a:off x="5009975" y="1444288"/>
            <a:ext cx="3854700" cy="292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Low Error (&lt; 10): </a:t>
            </a:r>
            <a:r>
              <a:rPr lang="en" sz="1100">
                <a:solidFill>
                  <a:schemeClr val="dk1"/>
                </a:solidFill>
                <a:latin typeface="Montserrat"/>
                <a:ea typeface="Montserrat"/>
                <a:cs typeface="Montserrat"/>
                <a:sym typeface="Montserrat"/>
              </a:rPr>
              <a:t>~48 community areas – model is highly reliable</a:t>
            </a:r>
            <a:endParaRPr sz="1100">
              <a:solidFill>
                <a:schemeClr val="dk1"/>
              </a:solidFill>
              <a:latin typeface="Montserrat"/>
              <a:ea typeface="Montserrat"/>
              <a:cs typeface="Montserrat"/>
              <a:sym typeface="Montserrat"/>
            </a:endParaRPr>
          </a:p>
          <a:p>
            <a:pPr indent="0" lvl="0" marL="0" rtl="0" algn="l">
              <a:lnSpc>
                <a:spcPct val="115000"/>
              </a:lnSpc>
              <a:spcBef>
                <a:spcPts val="600"/>
              </a:spcBef>
              <a:spcAft>
                <a:spcPts val="0"/>
              </a:spcAft>
              <a:buNone/>
            </a:pPr>
            <a:r>
              <a:rPr b="1" lang="en" sz="1100">
                <a:solidFill>
                  <a:schemeClr val="dk1"/>
                </a:solidFill>
                <a:latin typeface="Montserrat"/>
                <a:ea typeface="Montserrat"/>
                <a:cs typeface="Montserrat"/>
                <a:sym typeface="Montserrat"/>
              </a:rPr>
              <a:t>Medium Error (10–25): </a:t>
            </a:r>
            <a:r>
              <a:rPr lang="en" sz="1100">
                <a:solidFill>
                  <a:schemeClr val="dk1"/>
                </a:solidFill>
                <a:latin typeface="Montserrat"/>
                <a:ea typeface="Montserrat"/>
                <a:cs typeface="Montserrat"/>
                <a:sym typeface="Montserrat"/>
              </a:rPr>
              <a:t>17 community areas – acceptable, but can be improved with richer features</a:t>
            </a:r>
            <a:endParaRPr sz="1100">
              <a:solidFill>
                <a:schemeClr val="dk1"/>
              </a:solidFill>
              <a:latin typeface="Montserrat"/>
              <a:ea typeface="Montserrat"/>
              <a:cs typeface="Montserrat"/>
              <a:sym typeface="Montserrat"/>
            </a:endParaRPr>
          </a:p>
          <a:p>
            <a:pPr indent="0" lvl="0" marL="0" rtl="0" algn="l">
              <a:lnSpc>
                <a:spcPct val="115000"/>
              </a:lnSpc>
              <a:spcBef>
                <a:spcPts val="600"/>
              </a:spcBef>
              <a:spcAft>
                <a:spcPts val="0"/>
              </a:spcAft>
              <a:buNone/>
            </a:pPr>
            <a:r>
              <a:rPr b="1" lang="en" sz="1100">
                <a:solidFill>
                  <a:schemeClr val="dk1"/>
                </a:solidFill>
                <a:latin typeface="Montserrat"/>
                <a:ea typeface="Montserrat"/>
                <a:cs typeface="Montserrat"/>
                <a:sym typeface="Montserrat"/>
              </a:rPr>
              <a:t>High Error (≥ 25): </a:t>
            </a:r>
            <a:r>
              <a:rPr lang="en" sz="1100">
                <a:solidFill>
                  <a:schemeClr val="dk1"/>
                </a:solidFill>
                <a:latin typeface="Montserrat"/>
                <a:ea typeface="Montserrat"/>
                <a:cs typeface="Montserrat"/>
                <a:sym typeface="Montserrat"/>
              </a:rPr>
              <a:t>13 community areas – highly volatile / event-driven demand; candidate for specialized models</a:t>
            </a:r>
            <a:endParaRPr sz="1100">
              <a:solidFill>
                <a:schemeClr val="dk1"/>
              </a:solidFill>
              <a:latin typeface="Montserrat"/>
              <a:ea typeface="Montserrat"/>
              <a:cs typeface="Montserrat"/>
              <a:sym typeface="Montserrat"/>
            </a:endParaRPr>
          </a:p>
          <a:p>
            <a:pPr indent="0" lvl="0" marL="0" rtl="0" algn="l">
              <a:lnSpc>
                <a:spcPct val="115000"/>
              </a:lnSpc>
              <a:spcBef>
                <a:spcPts val="600"/>
              </a:spcBef>
              <a:spcAft>
                <a:spcPts val="600"/>
              </a:spcAft>
              <a:buNone/>
            </a:pPr>
            <a:r>
              <a:rPr lang="en" sz="1100">
                <a:solidFill>
                  <a:schemeClr val="dk1"/>
                </a:solidFill>
                <a:latin typeface="Montserrat"/>
                <a:ea typeface="Montserrat"/>
                <a:cs typeface="Montserrat"/>
                <a:sym typeface="Montserrat"/>
              </a:rPr>
              <a:t>High-RMSE areas likely correspond to special zones (airports, stadiums, or downtown hotspots) where demand is dominated by events and extreme peaks, which our current feature set doesn’t fully capture yet.</a:t>
            </a:r>
            <a:endParaRPr sz="1100">
              <a:solidFill>
                <a:schemeClr val="dk1"/>
              </a:solidFill>
              <a:latin typeface="Montserrat"/>
              <a:ea typeface="Montserrat"/>
              <a:cs typeface="Montserrat"/>
              <a:sym typeface="Montserrat"/>
            </a:endParaRPr>
          </a:p>
        </p:txBody>
      </p:sp>
      <p:pic>
        <p:nvPicPr>
          <p:cNvPr id="313" name="Google Shape;313;p34" title="Screenshot 2025-12-10 at 4.48.18 PM.png"/>
          <p:cNvPicPr preferRelativeResize="0"/>
          <p:nvPr/>
        </p:nvPicPr>
        <p:blipFill>
          <a:blip r:embed="rId3">
            <a:alphaModFix/>
          </a:blip>
          <a:stretch>
            <a:fillRect/>
          </a:stretch>
        </p:blipFill>
        <p:spPr>
          <a:xfrm>
            <a:off x="1330288" y="2882175"/>
            <a:ext cx="2537620" cy="1483525"/>
          </a:xfrm>
          <a:prstGeom prst="rect">
            <a:avLst/>
          </a:prstGeom>
          <a:noFill/>
          <a:ln>
            <a:noFill/>
          </a:ln>
        </p:spPr>
      </p:pic>
      <p:sp>
        <p:nvSpPr>
          <p:cNvPr id="314" name="Google Shape;314;p34"/>
          <p:cNvSpPr txBox="1"/>
          <p:nvPr/>
        </p:nvSpPr>
        <p:spPr>
          <a:xfrm>
            <a:off x="5009963" y="8902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Test RMSE: 32.42626069813452</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Test R²:   0.7757461502014218</a:t>
            </a:r>
            <a:endParaRPr b="1" sz="12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Findings: Time has Significant Predictive Power</a:t>
            </a:r>
            <a:endParaRPr sz="2200"/>
          </a:p>
        </p:txBody>
      </p:sp>
      <p:sp>
        <p:nvSpPr>
          <p:cNvPr id="320" name="Google Shape;320;p35"/>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21" name="Google Shape;321;p35"/>
          <p:cNvPicPr preferRelativeResize="0"/>
          <p:nvPr/>
        </p:nvPicPr>
        <p:blipFill>
          <a:blip r:embed="rId3">
            <a:alphaModFix/>
          </a:blip>
          <a:stretch>
            <a:fillRect/>
          </a:stretch>
        </p:blipFill>
        <p:spPr>
          <a:xfrm>
            <a:off x="3049350" y="924148"/>
            <a:ext cx="5852159" cy="3295216"/>
          </a:xfrm>
          <a:prstGeom prst="rect">
            <a:avLst/>
          </a:prstGeom>
          <a:noFill/>
          <a:ln>
            <a:noFill/>
          </a:ln>
        </p:spPr>
      </p:pic>
      <p:sp>
        <p:nvSpPr>
          <p:cNvPr id="322" name="Google Shape;322;p35"/>
          <p:cNvSpPr txBox="1"/>
          <p:nvPr/>
        </p:nvSpPr>
        <p:spPr>
          <a:xfrm>
            <a:off x="242488" y="618000"/>
            <a:ext cx="2643900" cy="3907500"/>
          </a:xfrm>
          <a:prstGeom prst="rect">
            <a:avLst/>
          </a:prstGeom>
          <a:noFill/>
          <a:ln>
            <a:noFill/>
          </a:ln>
        </p:spPr>
        <p:txBody>
          <a:bodyPr anchorCtr="0" anchor="ctr" bIns="91425" lIns="45700" spcFirstLastPara="1" rIns="45700" wrap="square" tIns="91425">
            <a:noAutofit/>
          </a:bodyPr>
          <a:lstStyle/>
          <a:p>
            <a:pPr indent="0" lvl="0" marL="0" rtl="0" algn="l">
              <a:spcBef>
                <a:spcPts val="0"/>
              </a:spcBef>
              <a:spcAft>
                <a:spcPts val="0"/>
              </a:spcAft>
              <a:buNone/>
            </a:pPr>
            <a:r>
              <a:rPr b="1" lang="en" sz="1200" u="sng">
                <a:solidFill>
                  <a:schemeClr val="accent1"/>
                </a:solidFill>
                <a:latin typeface="Montserrat"/>
                <a:ea typeface="Montserrat"/>
                <a:cs typeface="Montserrat"/>
                <a:sym typeface="Montserrat"/>
              </a:rPr>
              <a:t>ACF (Top):</a:t>
            </a:r>
            <a:r>
              <a:rPr b="1" lang="en" sz="1200">
                <a:solidFill>
                  <a:schemeClr val="accent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How similar the data is to itself at different time delays (Lags)</a:t>
            </a:r>
            <a:endParaRPr sz="1200">
              <a:solidFill>
                <a:schemeClr val="dk1"/>
              </a:solidFill>
              <a:latin typeface="Montserrat"/>
              <a:ea typeface="Montserrat"/>
              <a:cs typeface="Montserrat"/>
              <a:sym typeface="Montserrat"/>
            </a:endParaRPr>
          </a:p>
          <a:p>
            <a:pPr indent="-167640" lvl="0" marL="32004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Demand is </a:t>
            </a:r>
            <a:r>
              <a:rPr b="1" lang="en" sz="1200">
                <a:solidFill>
                  <a:schemeClr val="dk1"/>
                </a:solidFill>
                <a:latin typeface="Montserrat"/>
                <a:ea typeface="Montserrat"/>
                <a:cs typeface="Montserrat"/>
                <a:sym typeface="Montserrat"/>
              </a:rPr>
              <a:t>consistent within hour</a:t>
            </a:r>
            <a:endParaRPr b="1" sz="1200">
              <a:solidFill>
                <a:schemeClr val="dk1"/>
              </a:solidFill>
              <a:latin typeface="Montserrat"/>
              <a:ea typeface="Montserrat"/>
              <a:cs typeface="Montserrat"/>
              <a:sym typeface="Montserrat"/>
            </a:endParaRPr>
          </a:p>
          <a:p>
            <a:pPr indent="-167640" lvl="0" marL="320040" rtl="0" algn="l">
              <a:spcBef>
                <a:spcPts val="8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Demand at a </a:t>
            </a:r>
            <a:r>
              <a:rPr b="1" lang="en" sz="1200">
                <a:solidFill>
                  <a:schemeClr val="dk1"/>
                </a:solidFill>
                <a:latin typeface="Montserrat"/>
                <a:ea typeface="Montserrat"/>
                <a:cs typeface="Montserrat"/>
                <a:sym typeface="Montserrat"/>
              </a:rPr>
              <a:t>time today</a:t>
            </a:r>
            <a:r>
              <a:rPr lang="en" sz="1200">
                <a:solidFill>
                  <a:schemeClr val="dk1"/>
                </a:solidFill>
                <a:latin typeface="Montserrat"/>
                <a:ea typeface="Montserrat"/>
                <a:cs typeface="Montserrat"/>
                <a:sym typeface="Montserrat"/>
              </a:rPr>
              <a:t> </a:t>
            </a:r>
            <a:r>
              <a:rPr b="1" lang="en" sz="1200">
                <a:solidFill>
                  <a:schemeClr val="dk1"/>
                </a:solidFill>
                <a:latin typeface="Montserrat"/>
                <a:ea typeface="Montserrat"/>
                <a:cs typeface="Montserrat"/>
                <a:sym typeface="Montserrat"/>
              </a:rPr>
              <a:t>strongly</a:t>
            </a:r>
            <a:r>
              <a:rPr lang="en" sz="1200">
                <a:solidFill>
                  <a:schemeClr val="dk1"/>
                </a:solidFill>
                <a:latin typeface="Montserrat"/>
                <a:ea typeface="Montserrat"/>
                <a:cs typeface="Montserrat"/>
                <a:sym typeface="Montserrat"/>
              </a:rPr>
              <a:t> </a:t>
            </a:r>
            <a:r>
              <a:rPr b="1" lang="en" sz="1200">
                <a:solidFill>
                  <a:schemeClr val="dk1"/>
                </a:solidFill>
                <a:latin typeface="Montserrat"/>
                <a:ea typeface="Montserrat"/>
                <a:cs typeface="Montserrat"/>
                <a:sym typeface="Montserrat"/>
              </a:rPr>
              <a:t>correlates</a:t>
            </a:r>
            <a:r>
              <a:rPr lang="en" sz="1200">
                <a:solidFill>
                  <a:schemeClr val="dk1"/>
                </a:solidFill>
                <a:latin typeface="Montserrat"/>
                <a:ea typeface="Montserrat"/>
                <a:cs typeface="Montserrat"/>
                <a:sym typeface="Montserrat"/>
              </a:rPr>
              <a:t> to </a:t>
            </a:r>
            <a:r>
              <a:rPr b="1" lang="en" sz="1200">
                <a:solidFill>
                  <a:schemeClr val="dk1"/>
                </a:solidFill>
                <a:latin typeface="Montserrat"/>
                <a:ea typeface="Montserrat"/>
                <a:cs typeface="Montserrat"/>
                <a:sym typeface="Montserrat"/>
              </a:rPr>
              <a:t>same time tomorrow</a:t>
            </a:r>
            <a:endParaRPr b="1" sz="1200">
              <a:solidFill>
                <a:schemeClr val="dk1"/>
              </a:solidFill>
              <a:latin typeface="Montserrat"/>
              <a:ea typeface="Montserrat"/>
              <a:cs typeface="Montserrat"/>
              <a:sym typeface="Montserrat"/>
            </a:endParaRPr>
          </a:p>
          <a:p>
            <a:pPr indent="0" lvl="0" marL="0" rtl="0" algn="l">
              <a:spcBef>
                <a:spcPts val="1800"/>
              </a:spcBef>
              <a:spcAft>
                <a:spcPts val="0"/>
              </a:spcAft>
              <a:buNone/>
            </a:pPr>
            <a:r>
              <a:rPr b="1" lang="en" sz="1200" u="sng">
                <a:solidFill>
                  <a:schemeClr val="accent1"/>
                </a:solidFill>
                <a:latin typeface="Montserrat"/>
                <a:ea typeface="Montserrat"/>
                <a:cs typeface="Montserrat"/>
                <a:sym typeface="Montserrat"/>
              </a:rPr>
              <a:t>PACF (Bottom):</a:t>
            </a:r>
            <a:r>
              <a:rPr b="1" lang="en" sz="1200">
                <a:solidFill>
                  <a:schemeClr val="dk1"/>
                </a:solidFill>
                <a:latin typeface="Montserrat"/>
                <a:ea typeface="Montserrat"/>
                <a:cs typeface="Montserrat"/>
                <a:sym typeface="Montserrat"/>
              </a:rPr>
              <a:t> </a:t>
            </a:r>
            <a:r>
              <a:rPr lang="en" sz="1200">
                <a:solidFill>
                  <a:schemeClr val="dk1"/>
                </a:solidFill>
                <a:latin typeface="Montserrat"/>
                <a:ea typeface="Montserrat"/>
                <a:cs typeface="Montserrat"/>
                <a:sym typeface="Montserrat"/>
              </a:rPr>
              <a:t>"How correlated is demand now with demand 2 hours ago, after </a:t>
            </a:r>
            <a:r>
              <a:rPr b="1" lang="en" sz="1200">
                <a:solidFill>
                  <a:schemeClr val="dk1"/>
                </a:solidFill>
                <a:latin typeface="Montserrat"/>
                <a:ea typeface="Montserrat"/>
                <a:cs typeface="Montserrat"/>
                <a:sym typeface="Montserrat"/>
              </a:rPr>
              <a:t>removing influence</a:t>
            </a:r>
            <a:r>
              <a:rPr lang="en" sz="1200">
                <a:solidFill>
                  <a:schemeClr val="dk1"/>
                </a:solidFill>
                <a:latin typeface="Montserrat"/>
                <a:ea typeface="Montserrat"/>
                <a:cs typeface="Montserrat"/>
                <a:sym typeface="Montserrat"/>
              </a:rPr>
              <a:t> of everything in between?"</a:t>
            </a:r>
            <a:endParaRPr sz="1200">
              <a:solidFill>
                <a:schemeClr val="dk1"/>
              </a:solidFill>
              <a:latin typeface="Montserrat"/>
              <a:ea typeface="Montserrat"/>
              <a:cs typeface="Montserrat"/>
              <a:sym typeface="Montserrat"/>
            </a:endParaRPr>
          </a:p>
          <a:p>
            <a:pPr indent="-167640" lvl="0" marL="320040" rtl="0" algn="l">
              <a:spcBef>
                <a:spcPts val="60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To </a:t>
            </a:r>
            <a:r>
              <a:rPr b="1" lang="en" sz="1200">
                <a:solidFill>
                  <a:schemeClr val="dk1"/>
                </a:solidFill>
                <a:latin typeface="Montserrat"/>
                <a:ea typeface="Montserrat"/>
                <a:cs typeface="Montserrat"/>
                <a:sym typeface="Montserrat"/>
              </a:rPr>
              <a:t>predict next 15</a:t>
            </a:r>
            <a:r>
              <a:rPr lang="en" sz="1200">
                <a:solidFill>
                  <a:schemeClr val="dk1"/>
                </a:solidFill>
                <a:latin typeface="Montserrat"/>
                <a:ea typeface="Montserrat"/>
                <a:cs typeface="Montserrat"/>
                <a:sym typeface="Montserrat"/>
              </a:rPr>
              <a:t> minutes, </a:t>
            </a:r>
            <a:r>
              <a:rPr i="1" lang="en" sz="1200">
                <a:solidFill>
                  <a:schemeClr val="dk1"/>
                </a:solidFill>
                <a:latin typeface="Montserrat"/>
                <a:ea typeface="Montserrat"/>
                <a:cs typeface="Montserrat"/>
                <a:sym typeface="Montserrat"/>
              </a:rPr>
              <a:t>just</a:t>
            </a:r>
            <a:r>
              <a:rPr lang="en" sz="1200">
                <a:solidFill>
                  <a:schemeClr val="dk1"/>
                </a:solidFill>
                <a:latin typeface="Montserrat"/>
                <a:ea typeface="Montserrat"/>
                <a:cs typeface="Montserrat"/>
                <a:sym typeface="Montserrat"/>
              </a:rPr>
              <a:t> need to </a:t>
            </a:r>
            <a:r>
              <a:rPr b="1" lang="en" sz="1200">
                <a:solidFill>
                  <a:schemeClr val="dk1"/>
                </a:solidFill>
                <a:latin typeface="Montserrat"/>
                <a:ea typeface="Montserrat"/>
                <a:cs typeface="Montserrat"/>
                <a:sym typeface="Montserrat"/>
              </a:rPr>
              <a:t>know what happened in last 15</a:t>
            </a:r>
            <a:r>
              <a:rPr lang="en" sz="1200">
                <a:solidFill>
                  <a:schemeClr val="dk1"/>
                </a:solidFill>
                <a:latin typeface="Montserrat"/>
                <a:ea typeface="Montserrat"/>
                <a:cs typeface="Montserrat"/>
                <a:sym typeface="Montserrat"/>
              </a:rPr>
              <a:t> minutes</a:t>
            </a:r>
            <a:endParaRPr sz="120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6"/>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Findings: Demand is Concentrated in a few Areas</a:t>
            </a:r>
            <a:endParaRPr sz="2200"/>
          </a:p>
        </p:txBody>
      </p:sp>
      <p:sp>
        <p:nvSpPr>
          <p:cNvPr id="328" name="Google Shape;328;p36"/>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29" name="Google Shape;329;p36"/>
          <p:cNvPicPr preferRelativeResize="0"/>
          <p:nvPr/>
        </p:nvPicPr>
        <p:blipFill>
          <a:blip r:embed="rId3">
            <a:alphaModFix/>
          </a:blip>
          <a:stretch>
            <a:fillRect/>
          </a:stretch>
        </p:blipFill>
        <p:spPr>
          <a:xfrm>
            <a:off x="4071225" y="2485860"/>
            <a:ext cx="4754879" cy="2358793"/>
          </a:xfrm>
          <a:prstGeom prst="rect">
            <a:avLst/>
          </a:prstGeom>
          <a:noFill/>
          <a:ln>
            <a:noFill/>
          </a:ln>
        </p:spPr>
      </p:pic>
      <p:pic>
        <p:nvPicPr>
          <p:cNvPr id="330" name="Google Shape;330;p36"/>
          <p:cNvPicPr preferRelativeResize="0"/>
          <p:nvPr/>
        </p:nvPicPr>
        <p:blipFill>
          <a:blip r:embed="rId4">
            <a:alphaModFix/>
          </a:blip>
          <a:stretch>
            <a:fillRect/>
          </a:stretch>
        </p:blipFill>
        <p:spPr>
          <a:xfrm>
            <a:off x="4185525" y="572694"/>
            <a:ext cx="4526281" cy="1913169"/>
          </a:xfrm>
          <a:prstGeom prst="rect">
            <a:avLst/>
          </a:prstGeom>
          <a:noFill/>
          <a:ln>
            <a:noFill/>
          </a:ln>
        </p:spPr>
      </p:pic>
      <p:sp>
        <p:nvSpPr>
          <p:cNvPr id="331" name="Google Shape;331;p36"/>
          <p:cNvSpPr txBox="1"/>
          <p:nvPr/>
        </p:nvSpPr>
        <p:spPr>
          <a:xfrm>
            <a:off x="317887" y="572688"/>
            <a:ext cx="3609300" cy="4268700"/>
          </a:xfrm>
          <a:prstGeom prst="rect">
            <a:avLst/>
          </a:prstGeom>
          <a:noFill/>
          <a:ln>
            <a:noFill/>
          </a:ln>
        </p:spPr>
        <p:txBody>
          <a:bodyPr anchorCtr="0" anchor="ctr" bIns="91425" lIns="45700" spcFirstLastPara="1" rIns="45700" wrap="square" tIns="91425">
            <a:noAutofit/>
          </a:bodyPr>
          <a:lstStyle/>
          <a:p>
            <a:pPr indent="-180340" lvl="0" marL="182880" rtl="0" algn="l">
              <a:spcBef>
                <a:spcPts val="0"/>
              </a:spcBef>
              <a:spcAft>
                <a:spcPts val="0"/>
              </a:spcAft>
              <a:buSzPts val="1400"/>
              <a:buFont typeface="Montserrat"/>
              <a:buChar char="●"/>
            </a:pPr>
            <a:r>
              <a:rPr b="1" lang="en" u="sng">
                <a:solidFill>
                  <a:schemeClr val="accent1"/>
                </a:solidFill>
                <a:latin typeface="Montserrat"/>
                <a:ea typeface="Montserrat"/>
                <a:cs typeface="Montserrat"/>
                <a:sym typeface="Montserrat"/>
              </a:rPr>
              <a:t>Top 5 Areas by DMD &amp; Rev:</a:t>
            </a:r>
            <a:r>
              <a:rPr b="1" lang="en">
                <a:solidFill>
                  <a:schemeClr val="accent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Near North Side, Loop, Near West Side, Lake View, O’hare (Airport)</a:t>
            </a:r>
            <a:endParaRPr>
              <a:solidFill>
                <a:schemeClr val="dk1"/>
              </a:solidFill>
              <a:latin typeface="Montserrat"/>
              <a:ea typeface="Montserrat"/>
              <a:cs typeface="Montserrat"/>
              <a:sym typeface="Montserrat"/>
            </a:endParaRPr>
          </a:p>
          <a:p>
            <a:pPr indent="-180340" lvl="0" marL="182880" rtl="0" algn="l">
              <a:spcBef>
                <a:spcPts val="16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Top Areas have </a:t>
            </a:r>
            <a:r>
              <a:rPr b="1" lang="en">
                <a:solidFill>
                  <a:schemeClr val="dk1"/>
                </a:solidFill>
                <a:latin typeface="Montserrat"/>
                <a:ea typeface="Montserrat"/>
                <a:cs typeface="Montserrat"/>
                <a:sym typeface="Montserrat"/>
              </a:rPr>
              <a:t>continued to grow</a:t>
            </a:r>
            <a:r>
              <a:rPr lang="en">
                <a:solidFill>
                  <a:schemeClr val="dk1"/>
                </a:solidFill>
                <a:latin typeface="Montserrat"/>
                <a:ea typeface="Montserrat"/>
                <a:cs typeface="Montserrat"/>
                <a:sym typeface="Montserrat"/>
              </a:rPr>
              <a:t> after the Pandemic</a:t>
            </a:r>
            <a:endParaRPr>
              <a:solidFill>
                <a:schemeClr val="dk1"/>
              </a:solidFill>
              <a:latin typeface="Montserrat"/>
              <a:ea typeface="Montserrat"/>
              <a:cs typeface="Montserrat"/>
              <a:sym typeface="Montserrat"/>
            </a:endParaRPr>
          </a:p>
          <a:p>
            <a:pPr indent="-180340" lvl="0" marL="182880" rtl="0" algn="l">
              <a:spcBef>
                <a:spcPts val="1600"/>
              </a:spcBef>
              <a:spcAft>
                <a:spcPts val="1600"/>
              </a:spcAft>
              <a:buClr>
                <a:schemeClr val="dk1"/>
              </a:buClr>
              <a:buSzPts val="1400"/>
              <a:buFont typeface="Montserrat"/>
              <a:buChar char="●"/>
            </a:pPr>
            <a:r>
              <a:rPr lang="en">
                <a:solidFill>
                  <a:schemeClr val="dk1"/>
                </a:solidFill>
                <a:latin typeface="Montserrat"/>
                <a:ea typeface="Montserrat"/>
                <a:cs typeface="Montserrat"/>
                <a:sym typeface="Montserrat"/>
              </a:rPr>
              <a:t>The </a:t>
            </a:r>
            <a:r>
              <a:rPr b="1" lang="en">
                <a:solidFill>
                  <a:schemeClr val="dk1"/>
                </a:solidFill>
                <a:latin typeface="Montserrat"/>
                <a:ea typeface="Montserrat"/>
                <a:cs typeface="Montserrat"/>
                <a:sym typeface="Montserrat"/>
              </a:rPr>
              <a:t>Near North Side</a:t>
            </a:r>
            <a:r>
              <a:rPr lang="en">
                <a:solidFill>
                  <a:schemeClr val="dk1"/>
                </a:solidFill>
                <a:latin typeface="Montserrat"/>
                <a:ea typeface="Montserrat"/>
                <a:cs typeface="Montserrat"/>
                <a:sym typeface="Montserrat"/>
              </a:rPr>
              <a:t> is one of the </a:t>
            </a:r>
            <a:r>
              <a:rPr b="1" lang="en">
                <a:solidFill>
                  <a:schemeClr val="dk1"/>
                </a:solidFill>
                <a:latin typeface="Montserrat"/>
                <a:ea typeface="Montserrat"/>
                <a:cs typeface="Montserrat"/>
                <a:sym typeface="Montserrat"/>
              </a:rPr>
              <a:t>most vibrant and heavily trafficked areas in Chicago</a:t>
            </a:r>
            <a:r>
              <a:rPr lang="en">
                <a:solidFill>
                  <a:schemeClr val="dk1"/>
                </a:solidFill>
                <a:latin typeface="Montserrat"/>
                <a:ea typeface="Montserrat"/>
                <a:cs typeface="Montserrat"/>
                <a:sym typeface="Montserrat"/>
              </a:rPr>
              <a:t>, having some of Chicago’s biggest attractions, a dense dining and nightlife scene, high-income residences, large employers, easy transportation access, and many hotels</a:t>
            </a:r>
            <a:endParaRPr>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7"/>
          <p:cNvSpPr txBox="1"/>
          <p:nvPr>
            <p:ph type="title"/>
          </p:nvPr>
        </p:nvSpPr>
        <p:spPr>
          <a:xfrm>
            <a:off x="0" y="0"/>
            <a:ext cx="8121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Findings: Weather Does NOT Impact Demand</a:t>
            </a:r>
            <a:endParaRPr sz="2200"/>
          </a:p>
        </p:txBody>
      </p:sp>
      <p:sp>
        <p:nvSpPr>
          <p:cNvPr id="337" name="Google Shape;337;p37"/>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38" name="Google Shape;338;p37"/>
          <p:cNvPicPr preferRelativeResize="0"/>
          <p:nvPr/>
        </p:nvPicPr>
        <p:blipFill>
          <a:blip r:embed="rId3">
            <a:alphaModFix/>
          </a:blip>
          <a:stretch>
            <a:fillRect/>
          </a:stretch>
        </p:blipFill>
        <p:spPr>
          <a:xfrm>
            <a:off x="152400" y="656725"/>
            <a:ext cx="8839201" cy="3115977"/>
          </a:xfrm>
          <a:prstGeom prst="rect">
            <a:avLst/>
          </a:prstGeom>
          <a:noFill/>
          <a:ln>
            <a:noFill/>
          </a:ln>
        </p:spPr>
      </p:pic>
      <p:sp>
        <p:nvSpPr>
          <p:cNvPr id="339" name="Google Shape;339;p37"/>
          <p:cNvSpPr/>
          <p:nvPr/>
        </p:nvSpPr>
        <p:spPr>
          <a:xfrm>
            <a:off x="850950" y="3772700"/>
            <a:ext cx="3566100" cy="2469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accent1"/>
                </a:solidFill>
                <a:latin typeface="Montserrat"/>
                <a:ea typeface="Montserrat"/>
                <a:cs typeface="Montserrat"/>
                <a:sym typeface="Montserrat"/>
              </a:rPr>
              <a:t>Demand is consistent at all temperatures</a:t>
            </a:r>
            <a:endParaRPr>
              <a:solidFill>
                <a:schemeClr val="accent1"/>
              </a:solidFill>
              <a:latin typeface="Montserrat"/>
              <a:ea typeface="Montserrat"/>
              <a:cs typeface="Montserrat"/>
              <a:sym typeface="Montserrat"/>
            </a:endParaRPr>
          </a:p>
        </p:txBody>
      </p:sp>
      <p:sp>
        <p:nvSpPr>
          <p:cNvPr id="340" name="Google Shape;340;p37"/>
          <p:cNvSpPr/>
          <p:nvPr/>
        </p:nvSpPr>
        <p:spPr>
          <a:xfrm>
            <a:off x="5242750" y="3772700"/>
            <a:ext cx="3566100" cy="2469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1"/>
                </a:solidFill>
                <a:latin typeface="Montserrat"/>
                <a:ea typeface="Montserrat"/>
                <a:cs typeface="Montserrat"/>
                <a:sym typeface="Montserrat"/>
              </a:rPr>
              <a:t>Demand is unaffected by precipitation</a:t>
            </a:r>
            <a:endParaRPr>
              <a:solidFill>
                <a:schemeClr val="accent1"/>
              </a:solidFill>
              <a:latin typeface="Montserrat"/>
              <a:ea typeface="Montserrat"/>
              <a:cs typeface="Montserrat"/>
              <a:sym typeface="Montserrat"/>
            </a:endParaRPr>
          </a:p>
        </p:txBody>
      </p:sp>
      <p:sp>
        <p:nvSpPr>
          <p:cNvPr id="341" name="Google Shape;341;p37"/>
          <p:cNvSpPr/>
          <p:nvPr/>
        </p:nvSpPr>
        <p:spPr>
          <a:xfrm>
            <a:off x="1812300" y="4172637"/>
            <a:ext cx="6309300" cy="621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 sz="1200">
                <a:solidFill>
                  <a:schemeClr val="lt1"/>
                </a:solidFill>
                <a:latin typeface="Montserrat"/>
                <a:ea typeface="Montserrat"/>
                <a:cs typeface="Montserrat"/>
                <a:sym typeface="Montserrat"/>
              </a:rPr>
              <a:t>Team was shocked by this finding, as personal experiences suggested a strong relationship between weather and demand. It was the main reason we brought in extra weather data for this Phase.</a:t>
            </a:r>
            <a:endParaRPr i="1">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Recommendations</a:t>
            </a:r>
            <a:endParaRPr sz="2200"/>
          </a:p>
        </p:txBody>
      </p:sp>
      <p:sp>
        <p:nvSpPr>
          <p:cNvPr id="347" name="Google Shape;347;p38"/>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48" name="Google Shape;348;p38"/>
          <p:cNvSpPr txBox="1"/>
          <p:nvPr/>
        </p:nvSpPr>
        <p:spPr>
          <a:xfrm>
            <a:off x="396250" y="519360"/>
            <a:ext cx="8290500" cy="4380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u="sng">
                <a:solidFill>
                  <a:schemeClr val="accent1"/>
                </a:solidFill>
                <a:latin typeface="Montserrat"/>
                <a:ea typeface="Montserrat"/>
                <a:cs typeface="Montserrat"/>
                <a:sym typeface="Montserrat"/>
              </a:rPr>
              <a:t>For drivers</a:t>
            </a:r>
            <a:r>
              <a:rPr lang="en" u="sng">
                <a:solidFill>
                  <a:schemeClr val="accent1"/>
                </a:solidFill>
                <a:latin typeface="Montserrat"/>
                <a:ea typeface="Montserrat"/>
                <a:cs typeface="Montserrat"/>
                <a:sym typeface="Montserrat"/>
              </a:rPr>
              <a:t> </a:t>
            </a:r>
            <a:endParaRPr u="sng">
              <a:solidFill>
                <a:schemeClr val="accent1"/>
              </a:solidFill>
              <a:latin typeface="Montserrat"/>
              <a:ea typeface="Montserrat"/>
              <a:cs typeface="Montserrat"/>
              <a:sym typeface="Montserrat"/>
            </a:endParaRPr>
          </a:p>
          <a:p>
            <a:pPr indent="-311150" lvl="0" marL="457200" rtl="0" algn="l">
              <a:lnSpc>
                <a:spcPct val="115000"/>
              </a:lnSpc>
              <a:spcBef>
                <a:spcPts val="20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Focus on high-demand areas</a:t>
            </a:r>
            <a:endParaRPr sz="1300">
              <a:solidFill>
                <a:schemeClr val="dk1"/>
              </a:solidFill>
              <a:latin typeface="Montserrat"/>
              <a:ea typeface="Montserrat"/>
              <a:cs typeface="Montserrat"/>
              <a:sym typeface="Montserrat"/>
            </a:endParaRPr>
          </a:p>
          <a:p>
            <a:pPr indent="-311150" lvl="0" marL="457200" rtl="0" algn="l">
              <a:lnSpc>
                <a:spcPct val="115000"/>
              </a:lnSpc>
              <a:spcBef>
                <a:spcPts val="40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Concentrate operations in </a:t>
            </a:r>
            <a:r>
              <a:rPr b="1" lang="en" sz="1300">
                <a:solidFill>
                  <a:schemeClr val="dk1"/>
                </a:solidFill>
                <a:latin typeface="Montserrat"/>
                <a:ea typeface="Montserrat"/>
                <a:cs typeface="Montserrat"/>
                <a:sym typeface="Montserrat"/>
              </a:rPr>
              <a:t>top-volume neighborhoods</a:t>
            </a:r>
            <a:r>
              <a:rPr lang="en" sz="1300">
                <a:solidFill>
                  <a:schemeClr val="dk1"/>
                </a:solidFill>
                <a:latin typeface="Montserrat"/>
                <a:ea typeface="Montserrat"/>
                <a:cs typeface="Montserrat"/>
                <a:sym typeface="Montserrat"/>
              </a:rPr>
              <a:t> to maintain </a:t>
            </a:r>
            <a:r>
              <a:rPr b="1" lang="en" sz="1300">
                <a:solidFill>
                  <a:schemeClr val="dk1"/>
                </a:solidFill>
                <a:latin typeface="Montserrat"/>
                <a:ea typeface="Montserrat"/>
                <a:cs typeface="Montserrat"/>
                <a:sym typeface="Montserrat"/>
              </a:rPr>
              <a:t>consistent trips </a:t>
            </a:r>
            <a:r>
              <a:rPr lang="en" sz="1300">
                <a:solidFill>
                  <a:schemeClr val="dk1"/>
                </a:solidFill>
                <a:latin typeface="Montserrat"/>
                <a:ea typeface="Montserrat"/>
                <a:cs typeface="Montserrat"/>
                <a:sym typeface="Montserrat"/>
              </a:rPr>
              <a:t>and stable </a:t>
            </a:r>
            <a:r>
              <a:rPr b="1" lang="en" sz="1300">
                <a:solidFill>
                  <a:schemeClr val="dk1"/>
                </a:solidFill>
                <a:latin typeface="Montserrat"/>
                <a:ea typeface="Montserrat"/>
                <a:cs typeface="Montserrat"/>
                <a:sym typeface="Montserrat"/>
              </a:rPr>
              <a:t>earnings</a:t>
            </a:r>
            <a:endParaRPr sz="1300">
              <a:solidFill>
                <a:schemeClr val="dk1"/>
              </a:solidFill>
              <a:latin typeface="Montserrat"/>
              <a:ea typeface="Montserrat"/>
              <a:cs typeface="Montserrat"/>
              <a:sym typeface="Montserrat"/>
            </a:endParaRPr>
          </a:p>
          <a:p>
            <a:pPr indent="0" lvl="0" marL="0" rtl="0" algn="l">
              <a:lnSpc>
                <a:spcPct val="115000"/>
              </a:lnSpc>
              <a:spcBef>
                <a:spcPts val="800"/>
              </a:spcBef>
              <a:spcAft>
                <a:spcPts val="0"/>
              </a:spcAft>
              <a:buNone/>
            </a:pPr>
            <a:r>
              <a:rPr b="1" lang="en" u="sng">
                <a:solidFill>
                  <a:schemeClr val="accent1"/>
                </a:solidFill>
                <a:latin typeface="Montserrat"/>
                <a:ea typeface="Montserrat"/>
                <a:cs typeface="Montserrat"/>
                <a:sym typeface="Montserrat"/>
              </a:rPr>
              <a:t>Leverage ML predictions</a:t>
            </a:r>
            <a:endParaRPr u="sng">
              <a:solidFill>
                <a:schemeClr val="accent1"/>
              </a:solidFill>
              <a:latin typeface="Montserrat"/>
              <a:ea typeface="Montserrat"/>
              <a:cs typeface="Montserrat"/>
              <a:sym typeface="Montserrat"/>
            </a:endParaRPr>
          </a:p>
          <a:p>
            <a:pPr indent="-311150" lvl="0" marL="457200" rtl="0" algn="l">
              <a:lnSpc>
                <a:spcPct val="115000"/>
              </a:lnSpc>
              <a:spcBef>
                <a:spcPts val="20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Use model-identified </a:t>
            </a:r>
            <a:r>
              <a:rPr b="1" lang="en" sz="1300">
                <a:solidFill>
                  <a:schemeClr val="dk1"/>
                </a:solidFill>
                <a:latin typeface="Montserrat"/>
                <a:ea typeface="Montserrat"/>
                <a:cs typeface="Montserrat"/>
                <a:sym typeface="Montserrat"/>
              </a:rPr>
              <a:t>peak times</a:t>
            </a:r>
            <a:r>
              <a:rPr lang="en" sz="1300">
                <a:solidFill>
                  <a:schemeClr val="dk1"/>
                </a:solidFill>
                <a:latin typeface="Montserrat"/>
                <a:ea typeface="Montserrat"/>
                <a:cs typeface="Montserrat"/>
                <a:sym typeface="Montserrat"/>
              </a:rPr>
              <a:t> and </a:t>
            </a:r>
            <a:r>
              <a:rPr b="1" lang="en" sz="1300">
                <a:solidFill>
                  <a:schemeClr val="dk1"/>
                </a:solidFill>
                <a:latin typeface="Montserrat"/>
                <a:ea typeface="Montserrat"/>
                <a:cs typeface="Montserrat"/>
                <a:sym typeface="Montserrat"/>
              </a:rPr>
              <a:t>hotspots</a:t>
            </a:r>
            <a:r>
              <a:rPr lang="en" sz="1300">
                <a:solidFill>
                  <a:schemeClr val="dk1"/>
                </a:solidFill>
                <a:latin typeface="Montserrat"/>
                <a:ea typeface="Montserrat"/>
                <a:cs typeface="Montserrat"/>
                <a:sym typeface="Montserrat"/>
              </a:rPr>
              <a:t> to optimize driver positioning and support better trip planning</a:t>
            </a:r>
            <a:endParaRPr sz="1300">
              <a:solidFill>
                <a:schemeClr val="dk1"/>
              </a:solidFill>
              <a:latin typeface="Montserrat"/>
              <a:ea typeface="Montserrat"/>
              <a:cs typeface="Montserrat"/>
              <a:sym typeface="Montserrat"/>
            </a:endParaRPr>
          </a:p>
          <a:p>
            <a:pPr indent="0" lvl="0" marL="0" rtl="0" algn="l">
              <a:lnSpc>
                <a:spcPct val="115000"/>
              </a:lnSpc>
              <a:spcBef>
                <a:spcPts val="800"/>
              </a:spcBef>
              <a:spcAft>
                <a:spcPts val="0"/>
              </a:spcAft>
              <a:buNone/>
            </a:pPr>
            <a:r>
              <a:rPr b="1" lang="en" u="sng">
                <a:solidFill>
                  <a:schemeClr val="accent1"/>
                </a:solidFill>
                <a:latin typeface="Montserrat"/>
                <a:ea typeface="Montserrat"/>
                <a:cs typeface="Montserrat"/>
                <a:sym typeface="Montserrat"/>
              </a:rPr>
              <a:t>Unlock emerging area value</a:t>
            </a:r>
            <a:endParaRPr u="sng">
              <a:solidFill>
                <a:schemeClr val="accent1"/>
              </a:solidFill>
              <a:latin typeface="Montserrat"/>
              <a:ea typeface="Montserrat"/>
              <a:cs typeface="Montserrat"/>
              <a:sym typeface="Montserrat"/>
            </a:endParaRPr>
          </a:p>
          <a:p>
            <a:pPr indent="-311150" lvl="0" marL="457200" rtl="0" algn="l">
              <a:lnSpc>
                <a:spcPct val="115000"/>
              </a:lnSpc>
              <a:spcBef>
                <a:spcPts val="200"/>
              </a:spcBef>
              <a:spcAft>
                <a:spcPts val="0"/>
              </a:spcAft>
              <a:buClr>
                <a:schemeClr val="dk1"/>
              </a:buClr>
              <a:buSzPts val="1300"/>
              <a:buFont typeface="Montserrat"/>
              <a:buChar char="●"/>
            </a:pPr>
            <a:r>
              <a:rPr b="1" lang="en" sz="1300">
                <a:solidFill>
                  <a:schemeClr val="dk1"/>
                </a:solidFill>
                <a:latin typeface="Montserrat"/>
                <a:ea typeface="Montserrat"/>
                <a:cs typeface="Montserrat"/>
                <a:sym typeface="Montserrat"/>
              </a:rPr>
              <a:t>Target lower-demand but high-potential neighborhoods</a:t>
            </a:r>
            <a:r>
              <a:rPr lang="en" sz="1300">
                <a:solidFill>
                  <a:schemeClr val="dk1"/>
                </a:solidFill>
                <a:latin typeface="Montserrat"/>
                <a:ea typeface="Montserrat"/>
                <a:cs typeface="Montserrat"/>
                <a:sym typeface="Montserrat"/>
              </a:rPr>
              <a:t> to expand service coverage and support local development</a:t>
            </a:r>
            <a:endParaRPr sz="1300">
              <a:solidFill>
                <a:schemeClr val="dk1"/>
              </a:solidFill>
              <a:latin typeface="Montserrat"/>
              <a:ea typeface="Montserrat"/>
              <a:cs typeface="Montserrat"/>
              <a:sym typeface="Montserrat"/>
            </a:endParaRPr>
          </a:p>
          <a:p>
            <a:pPr indent="0" lvl="0" marL="0" rtl="0" algn="l">
              <a:lnSpc>
                <a:spcPct val="115000"/>
              </a:lnSpc>
              <a:spcBef>
                <a:spcPts val="800"/>
              </a:spcBef>
              <a:spcAft>
                <a:spcPts val="0"/>
              </a:spcAft>
              <a:buNone/>
            </a:pPr>
            <a:r>
              <a:rPr b="1" lang="en" u="sng">
                <a:solidFill>
                  <a:schemeClr val="accent1"/>
                </a:solidFill>
                <a:latin typeface="Montserrat"/>
                <a:ea typeface="Montserrat"/>
                <a:cs typeface="Montserrat"/>
                <a:sym typeface="Montserrat"/>
              </a:rPr>
              <a:t>Market-wide applicability</a:t>
            </a:r>
            <a:endParaRPr u="sng">
              <a:solidFill>
                <a:schemeClr val="accent1"/>
              </a:solidFill>
              <a:latin typeface="Montserrat"/>
              <a:ea typeface="Montserrat"/>
              <a:cs typeface="Montserrat"/>
              <a:sym typeface="Montserrat"/>
            </a:endParaRPr>
          </a:p>
          <a:p>
            <a:pPr indent="-311150" lvl="0" marL="457200" rtl="0" algn="l">
              <a:lnSpc>
                <a:spcPct val="115000"/>
              </a:lnSpc>
              <a:spcBef>
                <a:spcPts val="20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Insights can be </a:t>
            </a:r>
            <a:r>
              <a:rPr b="1" lang="en" sz="1300">
                <a:solidFill>
                  <a:schemeClr val="dk1"/>
                </a:solidFill>
                <a:latin typeface="Montserrat"/>
                <a:ea typeface="Montserrat"/>
                <a:cs typeface="Montserrat"/>
                <a:sym typeface="Montserrat"/>
              </a:rPr>
              <a:t>extended to other major U.S. metro areas</a:t>
            </a:r>
            <a:r>
              <a:rPr lang="en" sz="1300">
                <a:solidFill>
                  <a:schemeClr val="dk1"/>
                </a:solidFill>
                <a:latin typeface="Montserrat"/>
                <a:ea typeface="Montserrat"/>
                <a:cs typeface="Montserrat"/>
                <a:sym typeface="Montserrat"/>
              </a:rPr>
              <a:t> for broader implementation</a:t>
            </a:r>
            <a:endParaRPr sz="1300">
              <a:solidFill>
                <a:schemeClr val="dk1"/>
              </a:solidFill>
              <a:latin typeface="Montserrat"/>
              <a:ea typeface="Montserrat"/>
              <a:cs typeface="Montserrat"/>
              <a:sym typeface="Montserrat"/>
            </a:endParaRPr>
          </a:p>
          <a:p>
            <a:pPr indent="0" lvl="0" marL="0" rtl="0" algn="l">
              <a:lnSpc>
                <a:spcPct val="115000"/>
              </a:lnSpc>
              <a:spcBef>
                <a:spcPts val="800"/>
              </a:spcBef>
              <a:spcAft>
                <a:spcPts val="0"/>
              </a:spcAft>
              <a:buNone/>
            </a:pPr>
            <a:r>
              <a:rPr b="1" lang="en" sz="1300" u="sng">
                <a:solidFill>
                  <a:schemeClr val="accent1"/>
                </a:solidFill>
                <a:latin typeface="Montserrat"/>
                <a:ea typeface="Montserrat"/>
                <a:cs typeface="Montserrat"/>
                <a:sym typeface="Montserrat"/>
              </a:rPr>
              <a:t>Need for updated data</a:t>
            </a:r>
            <a:r>
              <a:rPr lang="en" sz="1300" u="sng">
                <a:solidFill>
                  <a:schemeClr val="accent1"/>
                </a:solidFill>
                <a:latin typeface="Montserrat"/>
                <a:ea typeface="Montserrat"/>
                <a:cs typeface="Montserrat"/>
                <a:sym typeface="Montserrat"/>
              </a:rPr>
              <a:t> </a:t>
            </a:r>
            <a:endParaRPr sz="1300" u="sng">
              <a:solidFill>
                <a:schemeClr val="accent1"/>
              </a:solidFill>
              <a:latin typeface="Montserrat"/>
              <a:ea typeface="Montserrat"/>
              <a:cs typeface="Montserrat"/>
              <a:sym typeface="Montserrat"/>
            </a:endParaRPr>
          </a:p>
          <a:p>
            <a:pPr indent="-311150" lvl="0" marL="457200" rtl="0" algn="l">
              <a:lnSpc>
                <a:spcPct val="115000"/>
              </a:lnSpc>
              <a:spcBef>
                <a:spcPts val="20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Refresh the analysis with </a:t>
            </a:r>
            <a:r>
              <a:rPr b="1" lang="en" sz="1300">
                <a:solidFill>
                  <a:schemeClr val="dk1"/>
                </a:solidFill>
                <a:latin typeface="Montserrat"/>
                <a:ea typeface="Montserrat"/>
                <a:cs typeface="Montserrat"/>
                <a:sym typeface="Montserrat"/>
              </a:rPr>
              <a:t>post-2022 data</a:t>
            </a:r>
            <a:r>
              <a:rPr lang="en" sz="1300">
                <a:solidFill>
                  <a:schemeClr val="dk1"/>
                </a:solidFill>
                <a:latin typeface="Montserrat"/>
                <a:ea typeface="Montserrat"/>
                <a:cs typeface="Montserrat"/>
                <a:sym typeface="Montserrat"/>
              </a:rPr>
              <a:t> to reflect recent economic shifts and improve model performance.</a:t>
            </a:r>
            <a:endParaRPr sz="1500">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9"/>
          <p:cNvSpPr txBox="1"/>
          <p:nvPr>
            <p:ph type="title"/>
          </p:nvPr>
        </p:nvSpPr>
        <p:spPr>
          <a:xfrm>
            <a:off x="0" y="-2"/>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Challenges &amp; Limitations</a:t>
            </a:r>
            <a:endParaRPr sz="2200"/>
          </a:p>
        </p:txBody>
      </p:sp>
      <p:sp>
        <p:nvSpPr>
          <p:cNvPr id="354" name="Google Shape;354;p39"/>
          <p:cNvSpPr txBox="1"/>
          <p:nvPr>
            <p:ph idx="12" type="sldNum"/>
          </p:nvPr>
        </p:nvSpPr>
        <p:spPr>
          <a:xfrm>
            <a:off x="8864686" y="4841368"/>
            <a:ext cx="320100" cy="3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55" name="Google Shape;355;p39"/>
          <p:cNvSpPr txBox="1"/>
          <p:nvPr/>
        </p:nvSpPr>
        <p:spPr>
          <a:xfrm>
            <a:off x="396250" y="662950"/>
            <a:ext cx="8290500" cy="412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500" u="sng">
                <a:solidFill>
                  <a:schemeClr val="accent1"/>
                </a:solidFill>
                <a:latin typeface="Montserrat"/>
                <a:ea typeface="Montserrat"/>
                <a:cs typeface="Montserrat"/>
                <a:sym typeface="Montserrat"/>
              </a:rPr>
              <a:t>Resource Constraints</a:t>
            </a:r>
            <a:endParaRPr sz="1500" u="sng">
              <a:solidFill>
                <a:schemeClr val="accent1"/>
              </a:solidFill>
              <a:latin typeface="Montserrat"/>
              <a:ea typeface="Montserrat"/>
              <a:cs typeface="Montserrat"/>
              <a:sym typeface="Montserrat"/>
            </a:endParaRPr>
          </a:p>
          <a:p>
            <a:pPr indent="-317500" lvl="0" marL="457200" rtl="0" algn="l">
              <a:lnSpc>
                <a:spcPct val="115000"/>
              </a:lnSpc>
              <a:spcBef>
                <a:spcPts val="200"/>
              </a:spcBef>
              <a:spcAft>
                <a:spcPts val="0"/>
              </a:spcAft>
              <a:buClr>
                <a:schemeClr val="dk1"/>
              </a:buClr>
              <a:buSzPts val="1400"/>
              <a:buFont typeface="Montserrat"/>
              <a:buChar char="●"/>
            </a:pPr>
            <a:r>
              <a:rPr b="1" lang="en">
                <a:solidFill>
                  <a:schemeClr val="dk1"/>
                </a:solidFill>
                <a:latin typeface="Montserrat"/>
                <a:ea typeface="Montserrat"/>
                <a:cs typeface="Montserrat"/>
                <a:sym typeface="Montserrat"/>
              </a:rPr>
              <a:t>Exhausted credits</a:t>
            </a:r>
            <a:r>
              <a:rPr lang="en">
                <a:solidFill>
                  <a:schemeClr val="dk1"/>
                </a:solidFill>
                <a:latin typeface="Montserrat"/>
                <a:ea typeface="Montserrat"/>
                <a:cs typeface="Montserrat"/>
                <a:sym typeface="Montserrat"/>
              </a:rPr>
              <a:t> from over-provisioned clusters</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b="1" lang="en">
                <a:solidFill>
                  <a:schemeClr val="dk1"/>
                </a:solidFill>
                <a:latin typeface="Montserrat"/>
                <a:ea typeface="Montserrat"/>
                <a:cs typeface="Montserrat"/>
                <a:sym typeface="Montserrat"/>
              </a:rPr>
              <a:t>Kernel crashes</a:t>
            </a:r>
            <a:r>
              <a:rPr lang="en">
                <a:solidFill>
                  <a:schemeClr val="dk1"/>
                </a:solidFill>
                <a:latin typeface="Montserrat"/>
                <a:ea typeface="Montserrat"/>
                <a:cs typeface="Montserrat"/>
                <a:sym typeface="Montserrat"/>
              </a:rPr>
              <a:t> on configuration </a:t>
            </a:r>
            <a:r>
              <a:rPr b="1" lang="en">
                <a:solidFill>
                  <a:schemeClr val="dk1"/>
                </a:solidFill>
                <a:latin typeface="Montserrat"/>
                <a:ea typeface="Montserrat"/>
                <a:cs typeface="Montserrat"/>
                <a:sym typeface="Montserrat"/>
              </a:rPr>
              <a:t>optimized for cost, not heavy </a:t>
            </a:r>
            <a:r>
              <a:rPr b="1" lang="en">
                <a:solidFill>
                  <a:schemeClr val="dk1"/>
                </a:solidFill>
                <a:latin typeface="Montserrat"/>
                <a:ea typeface="Montserrat"/>
                <a:cs typeface="Montserrat"/>
                <a:sym typeface="Montserrat"/>
              </a:rPr>
              <a:t>analysis</a:t>
            </a:r>
            <a:endParaRPr b="1">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Forced to </a:t>
            </a:r>
            <a:r>
              <a:rPr b="1" lang="en">
                <a:solidFill>
                  <a:schemeClr val="dk1"/>
                </a:solidFill>
                <a:latin typeface="Montserrat"/>
                <a:ea typeface="Montserrat"/>
                <a:cs typeface="Montserrat"/>
                <a:sym typeface="Montserrat"/>
              </a:rPr>
              <a:t>compromise on ML depth</a:t>
            </a:r>
            <a:r>
              <a:rPr lang="en">
                <a:solidFill>
                  <a:schemeClr val="dk1"/>
                </a:solidFill>
                <a:latin typeface="Montserrat"/>
                <a:ea typeface="Montserrat"/>
                <a:cs typeface="Montserrat"/>
                <a:sym typeface="Montserrat"/>
              </a:rPr>
              <a:t>, illustrating that big data insights require substantial resources and careful planning</a:t>
            </a:r>
            <a:endParaRPr>
              <a:solidFill>
                <a:schemeClr val="dk1"/>
              </a:solidFill>
              <a:latin typeface="Montserrat"/>
              <a:ea typeface="Montserrat"/>
              <a:cs typeface="Montserrat"/>
              <a:sym typeface="Montserrat"/>
            </a:endParaRPr>
          </a:p>
          <a:p>
            <a:pPr indent="0" lvl="0" marL="0" rtl="0" algn="l">
              <a:lnSpc>
                <a:spcPct val="115000"/>
              </a:lnSpc>
              <a:spcBef>
                <a:spcPts val="1000"/>
              </a:spcBef>
              <a:spcAft>
                <a:spcPts val="0"/>
              </a:spcAft>
              <a:buNone/>
            </a:pPr>
            <a:r>
              <a:rPr b="1" lang="en" sz="1500" u="sng">
                <a:solidFill>
                  <a:schemeClr val="accent1"/>
                </a:solidFill>
                <a:latin typeface="Montserrat"/>
                <a:ea typeface="Montserrat"/>
                <a:cs typeface="Montserrat"/>
                <a:sym typeface="Montserrat"/>
              </a:rPr>
              <a:t>Workflow Inefficiencies </a:t>
            </a:r>
            <a:endParaRPr b="1" sz="1500" u="sng">
              <a:solidFill>
                <a:schemeClr val="accent1"/>
              </a:solidFill>
              <a:latin typeface="Montserrat"/>
              <a:ea typeface="Montserrat"/>
              <a:cs typeface="Montserrat"/>
              <a:sym typeface="Montserrat"/>
            </a:endParaRPr>
          </a:p>
          <a:p>
            <a:pPr indent="-317500" lvl="0" marL="457200" rtl="0" algn="l">
              <a:lnSpc>
                <a:spcPct val="115000"/>
              </a:lnSpc>
              <a:spcBef>
                <a:spcPts val="2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Ran </a:t>
            </a:r>
            <a:r>
              <a:rPr b="1" lang="en">
                <a:solidFill>
                  <a:schemeClr val="dk1"/>
                </a:solidFill>
                <a:latin typeface="Montserrat"/>
                <a:ea typeface="Montserrat"/>
                <a:cs typeface="Montserrat"/>
                <a:sym typeface="Montserrat"/>
              </a:rPr>
              <a:t>analyses in cluster</a:t>
            </a:r>
            <a:r>
              <a:rPr lang="en">
                <a:solidFill>
                  <a:schemeClr val="dk1"/>
                </a:solidFill>
                <a:latin typeface="Montserrat"/>
                <a:ea typeface="Montserrat"/>
                <a:cs typeface="Montserrat"/>
                <a:sym typeface="Montserrat"/>
              </a:rPr>
              <a:t> but completed </a:t>
            </a:r>
            <a:r>
              <a:rPr b="1" lang="en">
                <a:solidFill>
                  <a:schemeClr val="dk1"/>
                </a:solidFill>
                <a:latin typeface="Montserrat"/>
                <a:ea typeface="Montserrat"/>
                <a:cs typeface="Montserrat"/>
                <a:sym typeface="Montserrat"/>
              </a:rPr>
              <a:t>write-ups in Colab</a:t>
            </a:r>
            <a:r>
              <a:rPr lang="en">
                <a:solidFill>
                  <a:schemeClr val="dk1"/>
                </a:solidFill>
                <a:latin typeface="Montserrat"/>
                <a:ea typeface="Montserrat"/>
                <a:cs typeface="Montserrat"/>
                <a:sym typeface="Montserrat"/>
              </a:rPr>
              <a:t> after manually downloading/merging files</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b="1" lang="en">
                <a:solidFill>
                  <a:schemeClr val="dk1"/>
                </a:solidFill>
                <a:latin typeface="Montserrat"/>
                <a:ea typeface="Montserrat"/>
                <a:cs typeface="Montserrat"/>
                <a:sym typeface="Montserrat"/>
              </a:rPr>
              <a:t>Achieved cost and collaboration</a:t>
            </a:r>
            <a:r>
              <a:rPr lang="en">
                <a:solidFill>
                  <a:schemeClr val="dk1"/>
                </a:solidFill>
                <a:latin typeface="Montserrat"/>
                <a:ea typeface="Montserrat"/>
                <a:cs typeface="Montserrat"/>
                <a:sym typeface="Montserrat"/>
              </a:rPr>
              <a:t> goals but created </a:t>
            </a:r>
            <a:r>
              <a:rPr b="1" lang="en">
                <a:solidFill>
                  <a:schemeClr val="dk1"/>
                </a:solidFill>
                <a:latin typeface="Montserrat"/>
                <a:ea typeface="Montserrat"/>
                <a:cs typeface="Montserrat"/>
                <a:sym typeface="Montserrat"/>
              </a:rPr>
              <a:t>cumbersome manual work</a:t>
            </a:r>
            <a:r>
              <a:rPr lang="en">
                <a:solidFill>
                  <a:schemeClr val="dk1"/>
                </a:solidFill>
                <a:latin typeface="Montserrat"/>
                <a:ea typeface="Montserrat"/>
                <a:cs typeface="Montserrat"/>
                <a:sym typeface="Montserrat"/>
              </a:rPr>
              <a:t> and </a:t>
            </a:r>
            <a:r>
              <a:rPr b="1" lang="en">
                <a:solidFill>
                  <a:schemeClr val="dk1"/>
                </a:solidFill>
                <a:latin typeface="Montserrat"/>
                <a:ea typeface="Montserrat"/>
                <a:cs typeface="Montserrat"/>
                <a:sym typeface="Montserrat"/>
              </a:rPr>
              <a:t>difficult change implementation</a:t>
            </a:r>
            <a:endParaRPr b="1">
              <a:solidFill>
                <a:schemeClr val="dk1"/>
              </a:solidFill>
              <a:latin typeface="Montserrat"/>
              <a:ea typeface="Montserrat"/>
              <a:cs typeface="Montserrat"/>
              <a:sym typeface="Montserrat"/>
            </a:endParaRPr>
          </a:p>
          <a:p>
            <a:pPr indent="0" lvl="0" marL="0" rtl="0" algn="l">
              <a:lnSpc>
                <a:spcPct val="115000"/>
              </a:lnSpc>
              <a:spcBef>
                <a:spcPts val="1000"/>
              </a:spcBef>
              <a:spcAft>
                <a:spcPts val="0"/>
              </a:spcAft>
              <a:buNone/>
            </a:pPr>
            <a:r>
              <a:rPr b="1" lang="en" sz="1500" u="sng">
                <a:solidFill>
                  <a:schemeClr val="accent1"/>
                </a:solidFill>
                <a:latin typeface="Montserrat"/>
                <a:ea typeface="Montserrat"/>
                <a:cs typeface="Montserrat"/>
                <a:sym typeface="Montserrat"/>
              </a:rPr>
              <a:t>Data Limitations </a:t>
            </a:r>
            <a:endParaRPr b="1" sz="1500" u="sng">
              <a:solidFill>
                <a:schemeClr val="accent1"/>
              </a:solidFill>
              <a:latin typeface="Montserrat"/>
              <a:ea typeface="Montserrat"/>
              <a:cs typeface="Montserrat"/>
              <a:sym typeface="Montserrat"/>
            </a:endParaRPr>
          </a:p>
          <a:p>
            <a:pPr indent="-317500" lvl="0" marL="457200" rtl="0" algn="l">
              <a:lnSpc>
                <a:spcPct val="115000"/>
              </a:lnSpc>
              <a:spcBef>
                <a:spcPts val="200"/>
              </a:spcBef>
              <a:spcAft>
                <a:spcPts val="0"/>
              </a:spcAft>
              <a:buClr>
                <a:schemeClr val="dk1"/>
              </a:buClr>
              <a:buSzPts val="1400"/>
              <a:buFont typeface="Montserrat"/>
              <a:buChar char="●"/>
            </a:pPr>
            <a:r>
              <a:rPr b="1" lang="en">
                <a:solidFill>
                  <a:schemeClr val="dk1"/>
                </a:solidFill>
                <a:latin typeface="Montserrat"/>
                <a:ea typeface="Montserrat"/>
                <a:cs typeface="Montserrat"/>
                <a:sym typeface="Montserrat"/>
              </a:rPr>
              <a:t>Poor pre-pandemic data quality</a:t>
            </a:r>
            <a:r>
              <a:rPr lang="en">
                <a:solidFill>
                  <a:schemeClr val="dk1"/>
                </a:solidFill>
                <a:latin typeface="Montserrat"/>
                <a:ea typeface="Montserrat"/>
                <a:cs typeface="Montserrat"/>
                <a:sym typeface="Montserrat"/>
              </a:rPr>
              <a:t> restricted analysis to Feb 2021-late 2022</a:t>
            </a:r>
            <a:endParaRPr>
              <a:solidFill>
                <a:schemeClr val="dk1"/>
              </a:solidFill>
              <a:latin typeface="Montserrat"/>
              <a:ea typeface="Montserrat"/>
              <a:cs typeface="Montserrat"/>
              <a:sym typeface="Montserrat"/>
            </a:endParaRPr>
          </a:p>
          <a:p>
            <a:pPr indent="-317500" lvl="0" marL="457200" rtl="0" algn="l">
              <a:lnSpc>
                <a:spcPct val="115000"/>
              </a:lnSpc>
              <a:spcBef>
                <a:spcPts val="400"/>
              </a:spcBef>
              <a:spcAft>
                <a:spcPts val="0"/>
              </a:spcAft>
              <a:buClr>
                <a:schemeClr val="dk1"/>
              </a:buClr>
              <a:buSzPts val="1400"/>
              <a:buFont typeface="Montserrat"/>
              <a:buChar char="●"/>
            </a:pPr>
            <a:r>
              <a:rPr b="1" lang="en">
                <a:solidFill>
                  <a:schemeClr val="dk1"/>
                </a:solidFill>
                <a:latin typeface="Montserrat"/>
                <a:ea typeface="Montserrat"/>
                <a:cs typeface="Montserrat"/>
                <a:sym typeface="Montserrat"/>
              </a:rPr>
              <a:t>Economic changes since 2022 create uncertainty</a:t>
            </a:r>
            <a:r>
              <a:rPr lang="en">
                <a:solidFill>
                  <a:schemeClr val="dk1"/>
                </a:solidFill>
                <a:latin typeface="Montserrat"/>
                <a:ea typeface="Montserrat"/>
                <a:cs typeface="Montserrat"/>
                <a:sym typeface="Montserrat"/>
              </a:rPr>
              <a:t> around model reliability, though core insights likely remain valid</a:t>
            </a:r>
            <a:endParaRPr>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type="title"/>
          </p:nvPr>
        </p:nvSpPr>
        <p:spPr>
          <a:xfrm>
            <a:off x="462500" y="1170000"/>
            <a:ext cx="5533200" cy="280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800"/>
              <a:t>Thank You | Q&amp;A</a:t>
            </a:r>
            <a:endParaRPr sz="4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0" y="0"/>
            <a:ext cx="7708200" cy="74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Sources</a:t>
            </a:r>
            <a:endParaRPr/>
          </a:p>
        </p:txBody>
      </p:sp>
      <p:sp>
        <p:nvSpPr>
          <p:cNvPr id="366" name="Google Shape;366;p41"/>
          <p:cNvSpPr txBox="1"/>
          <p:nvPr>
            <p:ph idx="1" type="subTitle"/>
          </p:nvPr>
        </p:nvSpPr>
        <p:spPr>
          <a:xfrm>
            <a:off x="227925" y="740400"/>
            <a:ext cx="7415100" cy="42435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00FF"/>
                </a:solidFill>
                <a:highlight>
                  <a:srgbClr val="FFFFFF"/>
                </a:highlight>
              </a:rPr>
              <a:t>1. </a:t>
            </a:r>
            <a:r>
              <a:rPr lang="en" sz="1050">
                <a:highlight>
                  <a:srgbClr val="FFFFFF"/>
                </a:highlight>
              </a:rPr>
              <a:t>Alphabet Inc. (n.d.). Google Gemini. Google. https://gemini.google.com/</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2. </a:t>
            </a:r>
            <a:r>
              <a:rPr lang="en" sz="1050">
                <a:highlight>
                  <a:srgbClr val="FFFFFF"/>
                </a:highlight>
              </a:rPr>
              <a:t>Anthropic PBC. (n.d.). Claude.AI. Anthropic. https://www.anthropic.com/</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3. </a:t>
            </a:r>
            <a:r>
              <a:rPr lang="en" sz="1050">
                <a:highlight>
                  <a:srgbClr val="FFFFFF"/>
                </a:highlight>
              </a:rPr>
              <a:t>City of Chicago. (2023, March 29). Transportation network providers - trips (2018 - 2022): City of Chicago: Data Portal. Chicago Data Portal. https://data.cityofchicago.org/Transportation/Transportation-Network-Providers-Trips-2018-2022-/m6dm-c72p/about_data</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4. </a:t>
            </a:r>
            <a:r>
              <a:rPr lang="en" sz="1050">
                <a:highlight>
                  <a:srgbClr val="FFFFFF"/>
                </a:highlight>
              </a:rPr>
              <a:t>City of Chicago. (2024, February 7). Taxi trips (2013-2023): City of chicago: Data Portal. Chicago Data Portal. https://data.cityofchicago.org/</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highlight>
                  <a:srgbClr val="FFFFFF"/>
                </a:highlight>
              </a:rPr>
              <a:t>Transportation/Taxi-Trips-2013-2023-/wrvz-psew/about_data</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5. </a:t>
            </a:r>
            <a:r>
              <a:rPr lang="en" sz="1050">
                <a:highlight>
                  <a:srgbClr val="FFFFFF"/>
                </a:highlight>
              </a:rPr>
              <a:t>National Oceanic and Atmospheric Administration. (n.d.). Integrated Surface Dataset (Global) (Version Superseded). National Centers for Environmental Information (NCEI). https://www.ncei.noaa.gov/access/search/data-search/global-hourl</a:t>
            </a:r>
            <a:r>
              <a:rPr lang="en" sz="1050">
                <a:highlight>
                  <a:srgbClr val="FFFFFF"/>
                </a:highlight>
              </a:rPr>
              <a:t>y</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6. </a:t>
            </a:r>
            <a:r>
              <a:rPr lang="en" sz="1050">
                <a:highlight>
                  <a:srgbClr val="FFFFFF"/>
                </a:highlight>
              </a:rPr>
              <a:t>OpenAI. (n.d.). ChatGPT. OpenAI. https://openai.com/</a:t>
            </a:r>
            <a:endParaRPr sz="1050">
              <a:highlight>
                <a:srgbClr val="FFFFFF"/>
              </a:highlight>
            </a:endParaRPr>
          </a:p>
          <a:p>
            <a:pPr indent="0" lvl="0" marL="0" rtl="0" algn="l">
              <a:lnSpc>
                <a:spcPct val="135714"/>
              </a:lnSpc>
              <a:spcBef>
                <a:spcPts val="1000"/>
              </a:spcBef>
              <a:spcAft>
                <a:spcPts val="0"/>
              </a:spcAft>
              <a:buClr>
                <a:schemeClr val="dk1"/>
              </a:buClr>
              <a:buSzPts val="1100"/>
              <a:buFont typeface="Arial"/>
              <a:buNone/>
            </a:pPr>
            <a:r>
              <a:rPr lang="en" sz="1050">
                <a:solidFill>
                  <a:srgbClr val="0000FF"/>
                </a:solidFill>
                <a:highlight>
                  <a:srgbClr val="FFFFFF"/>
                </a:highlight>
              </a:rPr>
              <a:t>7. </a:t>
            </a:r>
            <a:r>
              <a:rPr lang="en" sz="1050">
                <a:highlight>
                  <a:srgbClr val="FFFFFF"/>
                </a:highlight>
              </a:rPr>
              <a:t>Soltanieh Ha, M. (2025). BA843 E1 Big Data Analytics for Business (Fall 25). Lectures 1-13. Boston ; Boston University: Questrom School of Business.</a:t>
            </a:r>
            <a:endParaRPr sz="1050">
              <a:highlight>
                <a:srgbClr val="FFFFFF"/>
              </a:highlight>
            </a:endParaRPr>
          </a:p>
          <a:p>
            <a:pPr indent="0" lvl="0" marL="0" marR="50800" rtl="0" algn="l">
              <a:spcBef>
                <a:spcPts val="10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